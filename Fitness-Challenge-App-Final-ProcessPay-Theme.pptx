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AED"/>
        </a:solidFill>
      </p:bgPr>
    </p:bg>
    <p:spTree>
      <p:nvGrpSpPr>
        <p:cNvPr id="1" name=""/>
        <p:cNvGrpSpPr/>
        <p:nvPr/>
      </p:nvGrpSpPr>
      <p:grpSpPr>
        <a:xfrm>
          <a:off x="0" y="0"/>
          <a:ext cx="0" cy="0"/>
          <a:chOff x="0" y="0"/>
          <a:chExt cx="0" cy="0"/>
        </a:xfrm>
      </p:grpSpPr>
      <p:sp>
        <p:nvSpPr>
          <p:cNvPr id="2" name="Shape 0"/>
          <p:cNvSpPr/>
          <p:nvPr/>
        </p:nvSpPr>
        <p:spPr>
          <a:xfrm>
            <a:off x="384048" y="91440"/>
            <a:ext cx="11430000" cy="6583680"/>
          </a:xfrm>
          <a:prstGeom prst="rect">
            <a:avLst/>
          </a:prstGeom>
          <a:solidFill>
            <a:srgbClr val="F7FAED">
              <a:alpha val="0"/>
            </a:srgbClr>
          </a:solidFill>
          <a:ln w="12700">
            <a:solidFill>
              <a:srgbClr val="CBD6BB"/>
            </a:solidFill>
            <a:prstDash val="solid"/>
          </a:ln>
        </p:spPr>
      </p:sp>
      <p:pic>
        <p:nvPicPr>
          <p:cNvPr id="3" name="Image 0" descr="/mnt/data/mlppt_unzip/ppt/media/image1.png">    </p:cNvPr>
          <p:cNvPicPr>
            <a:picLocks noChangeAspect="1"/>
          </p:cNvPicPr>
          <p:nvPr/>
        </p:nvPicPr>
        <p:blipFill>
          <a:blip r:embed="rId1"/>
          <a:stretch>
            <a:fillRect/>
          </a:stretch>
        </p:blipFill>
        <p:spPr>
          <a:xfrm>
            <a:off x="658368" y="173736"/>
            <a:ext cx="1243584" cy="457200"/>
          </a:xfrm>
          <a:prstGeom prst="rect">
            <a:avLst/>
          </a:prstGeom>
        </p:spPr>
      </p:pic>
      <p:sp>
        <p:nvSpPr>
          <p:cNvPr id="4" name="Text 1"/>
          <p:cNvSpPr/>
          <p:nvPr/>
        </p:nvSpPr>
        <p:spPr>
          <a:xfrm>
            <a:off x="2039112" y="164592"/>
            <a:ext cx="6858000" cy="438912"/>
          </a:xfrm>
          <a:prstGeom prst="rect">
            <a:avLst/>
          </a:prstGeom>
          <a:noFill/>
          <a:ln/>
        </p:spPr>
        <p:txBody>
          <a:bodyPr wrap="square" lIns="762" tIns="762" rIns="762" bIns="762" rtlCol="0" anchor="ctr">
            <a:normAutofit/>
          </a:bodyPr>
          <a:lstStyle/>
          <a:p>
            <a:pPr algn="l" indent="0" marL="0">
              <a:buNone/>
            </a:pPr>
            <a:r>
              <a:rPr lang="en-US" sz="2300" b="1" dirty="0">
                <a:solidFill>
                  <a:srgbClr val="173242"/>
                </a:solidFill>
                <a:latin typeface="Lato" pitchFamily="34" charset="0"/>
                <a:ea typeface="Lato" pitchFamily="34" charset="-122"/>
                <a:cs typeface="Lato" pitchFamily="34" charset="-120"/>
              </a:rPr>
              <a:t>FITNESS CHALLENGE APP</a:t>
            </a:r>
            <a:endParaRPr lang="en-US" sz="2300" dirty="0"/>
          </a:p>
        </p:txBody>
      </p:sp>
      <p:sp>
        <p:nvSpPr>
          <p:cNvPr id="5" name="Shape 2"/>
          <p:cNvSpPr/>
          <p:nvPr/>
        </p:nvSpPr>
        <p:spPr>
          <a:xfrm>
            <a:off x="384048" y="758952"/>
            <a:ext cx="11430000" cy="0"/>
          </a:xfrm>
          <a:prstGeom prst="line">
            <a:avLst/>
          </a:prstGeom>
          <a:noFill/>
          <a:ln w="11430">
            <a:solidFill>
              <a:srgbClr val="173242"/>
            </a:solidFill>
            <a:prstDash val="solid"/>
          </a:ln>
        </p:spPr>
      </p:sp>
      <p:sp>
        <p:nvSpPr>
          <p:cNvPr id="6" name="Text 3"/>
          <p:cNvSpPr/>
          <p:nvPr/>
        </p:nvSpPr>
        <p:spPr>
          <a:xfrm>
            <a:off x="9189720" y="859536"/>
            <a:ext cx="2176272" cy="164592"/>
          </a:xfrm>
          <a:prstGeom prst="rect">
            <a:avLst/>
          </a:prstGeom>
          <a:noFill/>
          <a:ln/>
        </p:spPr>
        <p:txBody>
          <a:bodyPr wrap="square" lIns="762" tIns="762" rIns="762" bIns="762" rtlCol="0" anchor="ctr">
            <a:normAutofit/>
          </a:bodyPr>
          <a:lstStyle/>
          <a:p>
            <a:pPr algn="r" indent="0" marL="0">
              <a:buNone/>
            </a:pPr>
            <a:r>
              <a:rPr lang="en-US" sz="780" dirty="0">
                <a:solidFill>
                  <a:srgbClr val="173242"/>
                </a:solidFill>
                <a:latin typeface="Lato" pitchFamily="34" charset="0"/>
                <a:ea typeface="Lato" pitchFamily="34" charset="-122"/>
                <a:cs typeface="Lato" pitchFamily="34" charset="-120"/>
              </a:rPr>
              <a:t>FINAL PRESENTATION | CSE | SECTION 04 | TEAM 10</a:t>
            </a:r>
            <a:endParaRPr lang="en-US" sz="780" dirty="0"/>
          </a:p>
        </p:txBody>
      </p:sp>
      <p:sp>
        <p:nvSpPr>
          <p:cNvPr id="7" name="Shape 4"/>
          <p:cNvSpPr/>
          <p:nvPr/>
        </p:nvSpPr>
        <p:spPr>
          <a:xfrm>
            <a:off x="384048" y="1069848"/>
            <a:ext cx="11430000" cy="0"/>
          </a:xfrm>
          <a:prstGeom prst="line">
            <a:avLst/>
          </a:prstGeom>
          <a:noFill/>
          <a:ln w="11430">
            <a:solidFill>
              <a:srgbClr val="173242"/>
            </a:solidFill>
            <a:prstDash val="solid"/>
          </a:ln>
        </p:spPr>
      </p:sp>
      <p:sp>
        <p:nvSpPr>
          <p:cNvPr id="8" name="Shape 5"/>
          <p:cNvSpPr/>
          <p:nvPr/>
        </p:nvSpPr>
        <p:spPr>
          <a:xfrm>
            <a:off x="384048" y="6053328"/>
            <a:ext cx="11430000" cy="0"/>
          </a:xfrm>
          <a:prstGeom prst="line">
            <a:avLst/>
          </a:prstGeom>
          <a:noFill/>
          <a:ln w="11430">
            <a:solidFill>
              <a:srgbClr val="173242"/>
            </a:solidFill>
            <a:prstDash val="solid"/>
          </a:ln>
        </p:spPr>
      </p:sp>
      <p:sp>
        <p:nvSpPr>
          <p:cNvPr id="9" name="Text 6"/>
          <p:cNvSpPr/>
          <p:nvPr/>
        </p:nvSpPr>
        <p:spPr>
          <a:xfrm>
            <a:off x="713232" y="6172200"/>
            <a:ext cx="8138160" cy="164592"/>
          </a:xfrm>
          <a:prstGeom prst="rect">
            <a:avLst/>
          </a:prstGeom>
          <a:noFill/>
          <a:ln/>
        </p:spPr>
        <p:txBody>
          <a:bodyPr wrap="square" lIns="762" tIns="762" rIns="762" bIns="762" rtlCol="0" anchor="ctr">
            <a:normAutofit/>
          </a:bodyPr>
          <a:lstStyle/>
          <a:p>
            <a:r>
              <a:rPr sz="800"/>
              <a:t>FITNESS CHALLENGE APP WITH STEP GAMIFICATION</a:t>
            </a:r>
          </a:p>
        </p:txBody>
      </p:sp>
      <p:sp>
        <p:nvSpPr>
          <p:cNvPr id="10" name="Text 7"/>
          <p:cNvSpPr/>
          <p:nvPr/>
        </p:nvSpPr>
        <p:spPr>
          <a:xfrm>
            <a:off x="10241280" y="6172200"/>
            <a:ext cx="1143000" cy="164592"/>
          </a:xfrm>
          <a:prstGeom prst="rect">
            <a:avLst/>
          </a:prstGeom>
          <a:noFill/>
          <a:ln/>
        </p:spPr>
        <p:txBody>
          <a:bodyPr wrap="square" lIns="762" tIns="762" rIns="762" bIns="762" rtlCol="0" anchor="ctr">
            <a:normAutofit/>
          </a:bodyPr>
          <a:lstStyle/>
          <a:p>
            <a:pPr algn="r" indent="0" marL="0">
              <a:buNone/>
            </a:pPr>
            <a:r>
              <a:rPr lang="en-US" sz="690" dirty="0">
                <a:solidFill>
                  <a:srgbClr val="173242"/>
                </a:solidFill>
                <a:latin typeface="Lato" pitchFamily="34" charset="0"/>
                <a:ea typeface="Lato" pitchFamily="34" charset="-122"/>
                <a:cs typeface="Lato" pitchFamily="34" charset="-120"/>
              </a:rPr>
              <a:t>A.Y. 2025–26</a:t>
            </a:r>
            <a:endParaRPr lang="en-US" sz="690" dirty="0"/>
          </a:p>
        </p:txBody>
      </p:sp>
      <p:sp>
        <p:nvSpPr>
          <p:cNvPr id="11" name="Shape 8"/>
          <p:cNvSpPr/>
          <p:nvPr/>
        </p:nvSpPr>
        <p:spPr>
          <a:xfrm>
            <a:off x="384048" y="6364224"/>
            <a:ext cx="11430000" cy="0"/>
          </a:xfrm>
          <a:prstGeom prst="line">
            <a:avLst/>
          </a:prstGeom>
          <a:noFill/>
          <a:ln w="11430">
            <a:solidFill>
              <a:srgbClr val="173242"/>
            </a:solidFill>
            <a:prstDash val="solid"/>
          </a:ln>
        </p:spPr>
      </p:sp>
      <p:sp>
        <p:nvSpPr>
          <p:cNvPr id="12" name="Text 9"/>
          <p:cNvSpPr/>
          <p:nvPr/>
        </p:nvSpPr>
        <p:spPr>
          <a:xfrm>
            <a:off x="868680" y="1481328"/>
            <a:ext cx="5669280" cy="2743200"/>
          </a:xfrm>
          <a:prstGeom prst="rect">
            <a:avLst/>
          </a:prstGeom>
          <a:noFill/>
          <a:ln/>
        </p:spPr>
        <p:txBody>
          <a:bodyPr wrap="square" lIns="762" tIns="762" rIns="762" bIns="762" rtlCol="0" anchor="ctr">
            <a:normAutofit/>
          </a:bodyPr>
          <a:lstStyle/>
          <a:p>
            <a:r>
              <a:rPr sz="3000" b="1"/>
              <a:t>FITNESS CHALLENGE</a:t>
            </a:r>
          </a:p>
          <a:p>
            <a:r>
              <a:rPr sz="3000" b="1"/>
              <a:t>APP WITH STEP</a:t>
            </a:r>
          </a:p>
          <a:p>
            <a:r>
              <a:rPr sz="3000" b="1"/>
              <a:t>GAMIFICATION</a:t>
            </a:r>
          </a:p>
        </p:txBody>
      </p:sp>
      <p:sp>
        <p:nvSpPr>
          <p:cNvPr id="13" name="Text 10"/>
          <p:cNvSpPr/>
          <p:nvPr/>
        </p:nvSpPr>
        <p:spPr>
          <a:xfrm>
            <a:off x="6903720" y="1600200"/>
            <a:ext cx="4160520" cy="822960"/>
          </a:xfrm>
          <a:prstGeom prst="rect">
            <a:avLst/>
          </a:prstGeom>
          <a:solidFill>
            <a:srgbClr val="EEF4DD"/>
          </a:solidFill>
          <a:ln w="12700">
            <a:solidFill>
              <a:srgbClr val="173242"/>
            </a:solidFill>
          </a:ln>
        </p:spPr>
        <p:txBody>
          <a:bodyPr wrap="square" lIns="762" tIns="762" rIns="762" bIns="762" rtlCol="0" anchor="ctr">
            <a:normAutofit/>
          </a:bodyPr>
          <a:lstStyle/>
          <a:p>
            <a:r>
              <a:rPr sz="1700"/>
              <a:t>An Android fitness experience that links step tracking with challenges, friends, leaderboards and rewards.</a:t>
            </a:r>
          </a:p>
        </p:txBody>
      </p:sp>
      <p:sp>
        <p:nvSpPr>
          <p:cNvPr id="14" name="Text 11"/>
          <p:cNvSpPr/>
          <p:nvPr/>
        </p:nvSpPr>
        <p:spPr>
          <a:xfrm>
            <a:off x="6903720" y="2724912"/>
            <a:ext cx="1508760" cy="384048"/>
          </a:xfrm>
          <a:prstGeom prst="rect">
            <a:avLst/>
          </a:prstGeom>
          <a:solidFill>
            <a:srgbClr val="173242"/>
          </a:solidFill>
          <a:ln w="12700">
            <a:solidFill>
              <a:srgbClr val="879587"/>
            </a:solidFill>
          </a:ln>
        </p:spPr>
        <p:txBody>
          <a:bodyPr wrap="square" lIns="762" tIns="762" rIns="762" bIns="762" rtlCol="0" anchor="ctr">
            <a:normAutofit/>
          </a:bodyPr>
          <a:lstStyle/>
          <a:p>
            <a:pPr algn="ctr" indent="0" marL="0">
              <a:buNone/>
            </a:pPr>
            <a:r>
              <a:rPr lang="en-US" sz="900" b="1" dirty="0">
                <a:solidFill>
                  <a:srgbClr val="FFFFFF"/>
                </a:solidFill>
                <a:latin typeface="Lato" pitchFamily="34" charset="0"/>
                <a:ea typeface="Lato" pitchFamily="34" charset="-122"/>
                <a:cs typeface="Lato" pitchFamily="34" charset="-120"/>
              </a:rPr>
              <a:t>CLIENT</a:t>
            </a:r>
            <a:endParaRPr lang="en-US" sz="900" dirty="0"/>
          </a:p>
        </p:txBody>
      </p:sp>
      <p:sp>
        <p:nvSpPr>
          <p:cNvPr id="15" name="Text 12"/>
          <p:cNvSpPr/>
          <p:nvPr/>
        </p:nvSpPr>
        <p:spPr>
          <a:xfrm>
            <a:off x="8412480" y="2724912"/>
            <a:ext cx="2907792" cy="384048"/>
          </a:xfrm>
          <a:prstGeom prst="rect">
            <a:avLst/>
          </a:prstGeom>
          <a:solidFill>
            <a:srgbClr val="FAFCF0"/>
          </a:solidFill>
          <a:ln w="12700">
            <a:solidFill>
              <a:srgbClr val="879587"/>
            </a:solidFill>
          </a:ln>
        </p:spPr>
        <p:txBody>
          <a:bodyPr wrap="square" lIns="762" tIns="762" rIns="762" bIns="762" rtlCol="0" anchor="ctr">
            <a:normAutofit/>
          </a:bodyPr>
          <a:lstStyle/>
          <a:p>
            <a:pPr algn="l" indent="0" marL="0">
              <a:buNone/>
            </a:pPr>
            <a:r>
              <a:rPr lang="en-US" sz="900" b="1" dirty="0">
                <a:solidFill>
                  <a:srgbClr val="173242"/>
                </a:solidFill>
                <a:latin typeface="Lato" pitchFamily="34" charset="0"/>
                <a:ea typeface="Lato" pitchFamily="34" charset="-122"/>
                <a:cs typeface="Lato" pitchFamily="34" charset="-120"/>
              </a:rPr>
              <a:t>ANDROID (KOTLIN)</a:t>
            </a:r>
            <a:endParaRPr lang="en-US" sz="900" dirty="0"/>
          </a:p>
        </p:txBody>
      </p:sp>
      <p:sp>
        <p:nvSpPr>
          <p:cNvPr id="16" name="Text 13"/>
          <p:cNvSpPr/>
          <p:nvPr/>
        </p:nvSpPr>
        <p:spPr>
          <a:xfrm>
            <a:off x="6903720" y="3145536"/>
            <a:ext cx="1508760" cy="384048"/>
          </a:xfrm>
          <a:prstGeom prst="rect">
            <a:avLst/>
          </a:prstGeom>
          <a:solidFill>
            <a:srgbClr val="173242"/>
          </a:solidFill>
          <a:ln w="12700">
            <a:solidFill>
              <a:srgbClr val="879587"/>
            </a:solidFill>
          </a:ln>
        </p:spPr>
        <p:txBody>
          <a:bodyPr wrap="square" lIns="762" tIns="762" rIns="762" bIns="762" rtlCol="0" anchor="ctr">
            <a:normAutofit/>
          </a:bodyPr>
          <a:lstStyle/>
          <a:p>
            <a:pPr algn="ctr" indent="0" marL="0">
              <a:buNone/>
            </a:pPr>
            <a:r>
              <a:rPr lang="en-US" sz="900" b="1" dirty="0">
                <a:solidFill>
                  <a:srgbClr val="FFFFFF"/>
                </a:solidFill>
                <a:latin typeface="Lato" pitchFamily="34" charset="0"/>
                <a:ea typeface="Lato" pitchFamily="34" charset="-122"/>
                <a:cs typeface="Lato" pitchFamily="34" charset="-120"/>
              </a:rPr>
              <a:t>BACKEND</a:t>
            </a:r>
            <a:endParaRPr lang="en-US" sz="900" dirty="0"/>
          </a:p>
        </p:txBody>
      </p:sp>
      <p:sp>
        <p:nvSpPr>
          <p:cNvPr id="17" name="Text 14"/>
          <p:cNvSpPr/>
          <p:nvPr/>
        </p:nvSpPr>
        <p:spPr>
          <a:xfrm>
            <a:off x="8412480" y="3145536"/>
            <a:ext cx="2907792" cy="384048"/>
          </a:xfrm>
          <a:prstGeom prst="rect">
            <a:avLst/>
          </a:prstGeom>
          <a:solidFill>
            <a:srgbClr val="FAFCF0"/>
          </a:solidFill>
          <a:ln w="12700">
            <a:solidFill>
              <a:srgbClr val="879587"/>
            </a:solidFill>
          </a:ln>
        </p:spPr>
        <p:txBody>
          <a:bodyPr wrap="square" lIns="762" tIns="762" rIns="762" bIns="762" rtlCol="0" anchor="ctr">
            <a:normAutofit/>
          </a:bodyPr>
          <a:lstStyle/>
          <a:p>
            <a:pPr algn="l" indent="0" marL="0">
              <a:buNone/>
            </a:pPr>
            <a:r>
              <a:rPr lang="en-US" sz="900" b="1" dirty="0">
                <a:solidFill>
                  <a:srgbClr val="173242"/>
                </a:solidFill>
                <a:latin typeface="Lato" pitchFamily="34" charset="0"/>
                <a:ea typeface="Lato" pitchFamily="34" charset="-122"/>
                <a:cs typeface="Lato" pitchFamily="34" charset="-120"/>
              </a:rPr>
              <a:t>JAVA + SPRING BOOT</a:t>
            </a:r>
            <a:endParaRPr lang="en-US" sz="900" dirty="0"/>
          </a:p>
        </p:txBody>
      </p:sp>
      <p:sp>
        <p:nvSpPr>
          <p:cNvPr id="18" name="Text 15"/>
          <p:cNvSpPr/>
          <p:nvPr/>
        </p:nvSpPr>
        <p:spPr>
          <a:xfrm>
            <a:off x="6903720" y="3566160"/>
            <a:ext cx="1508760" cy="384048"/>
          </a:xfrm>
          <a:prstGeom prst="rect">
            <a:avLst/>
          </a:prstGeom>
          <a:solidFill>
            <a:srgbClr val="173242"/>
          </a:solidFill>
          <a:ln w="12700">
            <a:solidFill>
              <a:srgbClr val="879587"/>
            </a:solidFill>
          </a:ln>
        </p:spPr>
        <p:txBody>
          <a:bodyPr wrap="square" lIns="762" tIns="762" rIns="762" bIns="762" rtlCol="0" anchor="ctr">
            <a:normAutofit/>
          </a:bodyPr>
          <a:lstStyle/>
          <a:p>
            <a:pPr algn="ctr" indent="0" marL="0">
              <a:buNone/>
            </a:pPr>
            <a:r>
              <a:rPr lang="en-US" sz="900" b="1" dirty="0">
                <a:solidFill>
                  <a:srgbClr val="FFFFFF"/>
                </a:solidFill>
                <a:latin typeface="Lato" pitchFamily="34" charset="0"/>
                <a:ea typeface="Lato" pitchFamily="34" charset="-122"/>
                <a:cs typeface="Lato" pitchFamily="34" charset="-120"/>
              </a:rPr>
              <a:t>DATABASE</a:t>
            </a:r>
            <a:endParaRPr lang="en-US" sz="900" dirty="0"/>
          </a:p>
        </p:txBody>
      </p:sp>
      <p:sp>
        <p:nvSpPr>
          <p:cNvPr id="19" name="Text 16"/>
          <p:cNvSpPr/>
          <p:nvPr/>
        </p:nvSpPr>
        <p:spPr>
          <a:xfrm>
            <a:off x="8412480" y="3566160"/>
            <a:ext cx="2907792" cy="384048"/>
          </a:xfrm>
          <a:prstGeom prst="rect">
            <a:avLst/>
          </a:prstGeom>
          <a:solidFill>
            <a:srgbClr val="FAFCF0"/>
          </a:solidFill>
          <a:ln w="12700">
            <a:solidFill>
              <a:srgbClr val="879587"/>
            </a:solidFill>
          </a:ln>
        </p:spPr>
        <p:txBody>
          <a:bodyPr wrap="square" lIns="762" tIns="762" rIns="762" bIns="762" rtlCol="0" anchor="ctr">
            <a:normAutofit/>
          </a:bodyPr>
          <a:lstStyle/>
          <a:p>
            <a:pPr algn="l" indent="0" marL="0">
              <a:buNone/>
            </a:pPr>
            <a:r>
              <a:rPr lang="en-US" sz="900" b="1" dirty="0">
                <a:solidFill>
                  <a:srgbClr val="173242"/>
                </a:solidFill>
                <a:latin typeface="Lato" pitchFamily="34" charset="0"/>
                <a:ea typeface="Lato" pitchFamily="34" charset="-122"/>
                <a:cs typeface="Lato" pitchFamily="34" charset="-120"/>
              </a:rPr>
              <a:t>MYSQL</a:t>
            </a:r>
            <a:endParaRPr lang="en-US" sz="900" dirty="0"/>
          </a:p>
        </p:txBody>
      </p:sp>
      <p:sp>
        <p:nvSpPr>
          <p:cNvPr id="20" name="Text 17"/>
          <p:cNvSpPr/>
          <p:nvPr/>
        </p:nvSpPr>
        <p:spPr>
          <a:xfrm>
            <a:off x="6903720" y="3986784"/>
            <a:ext cx="1508760" cy="384048"/>
          </a:xfrm>
          <a:prstGeom prst="rect">
            <a:avLst/>
          </a:prstGeom>
          <a:solidFill>
            <a:srgbClr val="173242"/>
          </a:solidFill>
          <a:ln w="12700">
            <a:solidFill>
              <a:srgbClr val="879587"/>
            </a:solidFill>
          </a:ln>
        </p:spPr>
        <p:txBody>
          <a:bodyPr wrap="square" lIns="762" tIns="762" rIns="762" bIns="762" rtlCol="0" anchor="ctr">
            <a:normAutofit/>
          </a:bodyPr>
          <a:lstStyle/>
          <a:p>
            <a:pPr algn="ctr" indent="0" marL="0">
              <a:buNone/>
            </a:pPr>
            <a:r>
              <a:rPr lang="en-US" sz="900" b="1" dirty="0">
                <a:solidFill>
                  <a:srgbClr val="FFFFFF"/>
                </a:solidFill>
                <a:latin typeface="Lato" pitchFamily="34" charset="0"/>
                <a:ea typeface="Lato" pitchFamily="34" charset="-122"/>
                <a:cs typeface="Lato" pitchFamily="34" charset="-120"/>
              </a:rPr>
              <a:t>TEAM</a:t>
            </a:r>
            <a:endParaRPr lang="en-US" sz="900" dirty="0"/>
          </a:p>
        </p:txBody>
      </p:sp>
      <p:sp>
        <p:nvSpPr>
          <p:cNvPr id="21" name="Text 18"/>
          <p:cNvSpPr/>
          <p:nvPr/>
        </p:nvSpPr>
        <p:spPr>
          <a:xfrm>
            <a:off x="8412480" y="3986784"/>
            <a:ext cx="2907792" cy="384048"/>
          </a:xfrm>
          <a:prstGeom prst="rect">
            <a:avLst/>
          </a:prstGeom>
          <a:solidFill>
            <a:srgbClr val="FAFCF0"/>
          </a:solidFill>
          <a:ln w="12700">
            <a:solidFill>
              <a:srgbClr val="879587"/>
            </a:solidFill>
          </a:ln>
        </p:spPr>
        <p:txBody>
          <a:bodyPr wrap="square" lIns="762" tIns="762" rIns="762" bIns="762" rtlCol="0" anchor="ctr">
            <a:normAutofit/>
          </a:bodyPr>
          <a:lstStyle/>
          <a:p>
            <a:pPr algn="l" indent="0" marL="0">
              <a:buNone/>
            </a:pPr>
            <a:r>
              <a:rPr lang="en-US" sz="900" b="1" dirty="0">
                <a:solidFill>
                  <a:srgbClr val="173242"/>
                </a:solidFill>
                <a:latin typeface="Lato" pitchFamily="34" charset="0"/>
                <a:ea typeface="Lato" pitchFamily="34" charset="-122"/>
                <a:cs typeface="Lato" pitchFamily="34" charset="-120"/>
              </a:rPr>
              <a:t>10</a:t>
            </a:r>
            <a:endParaRPr lang="en-US" sz="900" dirty="0"/>
          </a:p>
        </p:txBody>
      </p:sp>
      <p:sp>
        <p:nvSpPr>
          <p:cNvPr id="22" name="Text 19"/>
          <p:cNvSpPr/>
          <p:nvPr/>
        </p:nvSpPr>
        <p:spPr>
          <a:xfrm>
            <a:off x="914400" y="4892040"/>
            <a:ext cx="5074920" cy="841248"/>
          </a:xfrm>
          <a:prstGeom prst="rect">
            <a:avLst/>
          </a:prstGeom>
          <a:solidFill>
            <a:srgbClr val="FAFCF0"/>
          </a:solidFill>
          <a:ln w="12700">
            <a:solidFill>
              <a:srgbClr val="176563"/>
            </a:solidFill>
          </a:ln>
        </p:spPr>
        <p:txBody>
          <a:bodyPr wrap="square" lIns="762" tIns="762" rIns="762" bIns="762" rtlCol="0" anchor="ctr">
            <a:normAutofit/>
          </a:bodyPr>
          <a:lstStyle/>
          <a:p>
            <a:r>
              <a:rPr sz="1200"/>
              <a:t>TEAM MEMBERS</a:t>
            </a:r>
          </a:p>
          <a:p>
            <a:r>
              <a:rPr sz="1200"/>
              <a:t>PAPISETTY SHASHE PREETHAM — 2520030534</a:t>
            </a:r>
          </a:p>
          <a:p>
            <a:r>
              <a:rPr sz="1200"/>
              <a:t>BURRAMUKKU ARYAN — 2520030343</a:t>
            </a:r>
          </a:p>
          <a:p>
            <a:r>
              <a:rPr sz="1200"/>
              <a:t>UPPALAPATI VENKATA NAGA VARSHITHA — 2520030206</a:t>
            </a:r>
          </a:p>
        </p:txBody>
      </p:sp>
      <p:sp>
        <p:nvSpPr>
          <p:cNvPr id="23" name="Text 20"/>
          <p:cNvSpPr/>
          <p:nvPr/>
        </p:nvSpPr>
        <p:spPr>
          <a:xfrm>
            <a:off x="6903720" y="4892040"/>
            <a:ext cx="4251960" cy="731520"/>
          </a:xfrm>
          <a:prstGeom prst="rect">
            <a:avLst/>
          </a:prstGeom>
          <a:solidFill>
            <a:srgbClr val="FAFCF0"/>
          </a:solidFill>
          <a:ln w="12700">
            <a:solidFill>
              <a:srgbClr val="9F303A"/>
            </a:solidFill>
          </a:ln>
        </p:spPr>
        <p:txBody>
          <a:bodyPr wrap="square" lIns="762" tIns="762" rIns="762" bIns="762" rtlCol="0" anchor="ctr">
            <a:normAutofit/>
          </a:bodyPr>
          <a:lstStyle/>
          <a:p>
            <a:pPr algn="l" indent="0" marL="0">
              <a:buNone/>
            </a:pPr>
            <a:r>
              <a:rPr lang="en-US" sz="1500" dirty="0">
                <a:solidFill>
                  <a:srgbClr val="173242"/>
                </a:solidFill>
                <a:latin typeface="Lato" pitchFamily="34" charset="0"/>
                <a:ea typeface="Lato" pitchFamily="34" charset="-122"/>
                <a:cs typeface="Lato" pitchFamily="34" charset="-120"/>
              </a:rPr>
              <a:t>GUIDED BY: Dr S. Spandana</a:t>
            </a:r>
            <a:endParaRPr lang="en-US" sz="1500" dirty="0"/>
          </a:p>
        </p:txBody>
      </p:sp>
      <p:sp>
        <p:nvSpPr>
          <p:cNvPr id="24" name="Text 21"/>
          <p:cNvSpPr/>
          <p:nvPr/>
        </p:nvSpPr>
        <p:spPr>
          <a:xfrm>
            <a:off x="731520" y="6172200"/>
            <a:ext cx="6949440" cy="164592"/>
          </a:xfrm>
          <a:prstGeom prst="rect">
            <a:avLst/>
          </a:prstGeom>
          <a:noFill/>
          <a:ln/>
        </p:spPr>
        <p:txBody>
          <a:bodyPr wrap="square" lIns="762" tIns="762" rIns="762" bIns="762" rtlCol="0" anchor="ctr">
            <a:normAutofit/>
          </a:bodyPr>
          <a:lstStyle/>
          <a:p>
            <a:pPr algn="l" indent="0" marL="0">
              <a:buNone/>
            </a:pPr>
            <a:r>
              <a:rPr lang="en-US" sz="690" dirty="0">
                <a:solidFill>
                  <a:srgbClr val="173242"/>
                </a:solidFill>
                <a:latin typeface="Lato" pitchFamily="34" charset="0"/>
                <a:ea typeface="Lato" pitchFamily="34" charset="-122"/>
                <a:cs typeface="Lato" pitchFamily="34" charset="-120"/>
              </a:rPr>
              <a:t/>
            </a:r>
            <a:endParaRPr lang="en-US" sz="69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ED"/>
        </a:solidFill>
      </p:bgPr>
    </p:bg>
    <p:spTree>
      <p:nvGrpSpPr>
        <p:cNvPr id="1" name=""/>
        <p:cNvGrpSpPr/>
        <p:nvPr/>
      </p:nvGrpSpPr>
      <p:grpSpPr>
        <a:xfrm>
          <a:off x="0" y="0"/>
          <a:ext cx="0" cy="0"/>
          <a:chOff x="0" y="0"/>
          <a:chExt cx="0" cy="0"/>
        </a:xfrm>
      </p:grpSpPr>
      <p:sp>
        <p:nvSpPr>
          <p:cNvPr id="2" name="Shape 0"/>
          <p:cNvSpPr/>
          <p:nvPr/>
        </p:nvSpPr>
        <p:spPr>
          <a:xfrm>
            <a:off x="384048" y="91440"/>
            <a:ext cx="11430000" cy="6583680"/>
          </a:xfrm>
          <a:prstGeom prst="rect">
            <a:avLst/>
          </a:prstGeom>
          <a:solidFill>
            <a:srgbClr val="F7FAED">
              <a:alpha val="0"/>
            </a:srgbClr>
          </a:solidFill>
          <a:ln w="12700">
            <a:solidFill>
              <a:srgbClr val="CBD6BB"/>
            </a:solidFill>
            <a:prstDash val="solid"/>
          </a:ln>
        </p:spPr>
      </p:sp>
      <p:pic>
        <p:nvPicPr>
          <p:cNvPr id="3" name="Image 0" descr="/mnt/data/mlppt_unzip/ppt/media/image1.png">    </p:cNvPr>
          <p:cNvPicPr>
            <a:picLocks noChangeAspect="1"/>
          </p:cNvPicPr>
          <p:nvPr/>
        </p:nvPicPr>
        <p:blipFill>
          <a:blip r:embed="rId1"/>
          <a:stretch>
            <a:fillRect/>
          </a:stretch>
        </p:blipFill>
        <p:spPr>
          <a:xfrm>
            <a:off x="658368" y="173736"/>
            <a:ext cx="1243584" cy="457200"/>
          </a:xfrm>
          <a:prstGeom prst="rect">
            <a:avLst/>
          </a:prstGeom>
        </p:spPr>
      </p:pic>
      <p:sp>
        <p:nvSpPr>
          <p:cNvPr id="4" name="Text 1"/>
          <p:cNvSpPr/>
          <p:nvPr/>
        </p:nvSpPr>
        <p:spPr>
          <a:xfrm>
            <a:off x="2039112" y="164592"/>
            <a:ext cx="6858000" cy="438912"/>
          </a:xfrm>
          <a:prstGeom prst="rect">
            <a:avLst/>
          </a:prstGeom>
          <a:noFill/>
          <a:ln/>
        </p:spPr>
        <p:txBody>
          <a:bodyPr wrap="square" lIns="762" tIns="762" rIns="762" bIns="762" rtlCol="0" anchor="ctr">
            <a:normAutofit/>
          </a:bodyPr>
          <a:lstStyle/>
          <a:p>
            <a:pPr algn="l" indent="0" marL="0">
              <a:buNone/>
            </a:pPr>
            <a:r>
              <a:rPr lang="en-US" sz="2300" b="1" dirty="0">
                <a:solidFill>
                  <a:srgbClr val="173242"/>
                </a:solidFill>
                <a:latin typeface="Lato" pitchFamily="34" charset="0"/>
                <a:ea typeface="Lato" pitchFamily="34" charset="-122"/>
                <a:cs typeface="Lato" pitchFamily="34" charset="-120"/>
              </a:rPr>
              <a:t>FITNESS CHALLENGE APP</a:t>
            </a:r>
            <a:endParaRPr lang="en-US" sz="2300" dirty="0"/>
          </a:p>
        </p:txBody>
      </p:sp>
      <p:sp>
        <p:nvSpPr>
          <p:cNvPr id="5" name="Shape 2"/>
          <p:cNvSpPr/>
          <p:nvPr/>
        </p:nvSpPr>
        <p:spPr>
          <a:xfrm>
            <a:off x="384048" y="758952"/>
            <a:ext cx="11430000" cy="0"/>
          </a:xfrm>
          <a:prstGeom prst="line">
            <a:avLst/>
          </a:prstGeom>
          <a:noFill/>
          <a:ln w="11430">
            <a:solidFill>
              <a:srgbClr val="173242"/>
            </a:solidFill>
            <a:prstDash val="solid"/>
          </a:ln>
        </p:spPr>
      </p:sp>
      <p:sp>
        <p:nvSpPr>
          <p:cNvPr id="6" name="Text 3"/>
          <p:cNvSpPr/>
          <p:nvPr/>
        </p:nvSpPr>
        <p:spPr>
          <a:xfrm>
            <a:off x="9189720" y="859536"/>
            <a:ext cx="2176272" cy="164592"/>
          </a:xfrm>
          <a:prstGeom prst="rect">
            <a:avLst/>
          </a:prstGeom>
          <a:noFill/>
          <a:ln/>
        </p:spPr>
        <p:txBody>
          <a:bodyPr wrap="square" lIns="762" tIns="762" rIns="762" bIns="762" rtlCol="0" anchor="ctr">
            <a:normAutofit/>
          </a:bodyPr>
          <a:lstStyle/>
          <a:p>
            <a:pPr algn="r" indent="0" marL="0">
              <a:buNone/>
            </a:pPr>
            <a:r>
              <a:rPr lang="en-US" sz="780" dirty="0">
                <a:solidFill>
                  <a:srgbClr val="173242"/>
                </a:solidFill>
                <a:latin typeface="Lato" pitchFamily="34" charset="0"/>
                <a:ea typeface="Lato" pitchFamily="34" charset="-122"/>
                <a:cs typeface="Lato" pitchFamily="34" charset="-120"/>
              </a:rPr>
              <a:t>FINAL PRESENTATION | CSE | SECTION 04 | TEAM 10</a:t>
            </a:r>
            <a:endParaRPr lang="en-US" sz="780" dirty="0"/>
          </a:p>
        </p:txBody>
      </p:sp>
      <p:sp>
        <p:nvSpPr>
          <p:cNvPr id="7" name="Shape 4"/>
          <p:cNvSpPr/>
          <p:nvPr/>
        </p:nvSpPr>
        <p:spPr>
          <a:xfrm>
            <a:off x="384048" y="1069848"/>
            <a:ext cx="11430000" cy="0"/>
          </a:xfrm>
          <a:prstGeom prst="line">
            <a:avLst/>
          </a:prstGeom>
          <a:noFill/>
          <a:ln w="11430">
            <a:solidFill>
              <a:srgbClr val="173242"/>
            </a:solidFill>
            <a:prstDash val="solid"/>
          </a:ln>
        </p:spPr>
      </p:sp>
      <p:sp>
        <p:nvSpPr>
          <p:cNvPr id="8" name="Shape 5"/>
          <p:cNvSpPr/>
          <p:nvPr/>
        </p:nvSpPr>
        <p:spPr>
          <a:xfrm>
            <a:off x="384048" y="6053328"/>
            <a:ext cx="11430000" cy="0"/>
          </a:xfrm>
          <a:prstGeom prst="line">
            <a:avLst/>
          </a:prstGeom>
          <a:noFill/>
          <a:ln w="11430">
            <a:solidFill>
              <a:srgbClr val="173242"/>
            </a:solidFill>
            <a:prstDash val="solid"/>
          </a:ln>
        </p:spPr>
      </p:sp>
      <p:sp>
        <p:nvSpPr>
          <p:cNvPr id="9" name="Text 6"/>
          <p:cNvSpPr/>
          <p:nvPr/>
        </p:nvSpPr>
        <p:spPr>
          <a:xfrm>
            <a:off x="713232" y="6172200"/>
            <a:ext cx="8138160" cy="164592"/>
          </a:xfrm>
          <a:prstGeom prst="rect">
            <a:avLst/>
          </a:prstGeom>
          <a:noFill/>
          <a:ln/>
        </p:spPr>
        <p:txBody>
          <a:bodyPr wrap="square" lIns="762" tIns="762" rIns="762" bIns="762" rtlCol="0" anchor="ctr">
            <a:normAutofit/>
          </a:bodyPr>
          <a:lstStyle/>
          <a:p>
            <a:r>
              <a:rPr sz="800"/>
              <a:t>FITNESS CHALLENGE APP WITH STEP GAMIFICATION</a:t>
            </a:r>
          </a:p>
        </p:txBody>
      </p:sp>
      <p:sp>
        <p:nvSpPr>
          <p:cNvPr id="10" name="Text 7"/>
          <p:cNvSpPr/>
          <p:nvPr/>
        </p:nvSpPr>
        <p:spPr>
          <a:xfrm>
            <a:off x="10241280" y="6172200"/>
            <a:ext cx="1143000" cy="164592"/>
          </a:xfrm>
          <a:prstGeom prst="rect">
            <a:avLst/>
          </a:prstGeom>
          <a:noFill/>
          <a:ln/>
        </p:spPr>
        <p:txBody>
          <a:bodyPr wrap="square" lIns="762" tIns="762" rIns="762" bIns="762" rtlCol="0" anchor="ctr">
            <a:normAutofit/>
          </a:bodyPr>
          <a:lstStyle/>
          <a:p>
            <a:pPr algn="r" indent="0" marL="0">
              <a:buNone/>
            </a:pPr>
            <a:r>
              <a:rPr lang="en-US" sz="690" dirty="0">
                <a:solidFill>
                  <a:srgbClr val="173242"/>
                </a:solidFill>
                <a:latin typeface="Lato" pitchFamily="34" charset="0"/>
                <a:ea typeface="Lato" pitchFamily="34" charset="-122"/>
                <a:cs typeface="Lato" pitchFamily="34" charset="-120"/>
              </a:rPr>
              <a:t>A.Y. 2025–26</a:t>
            </a:r>
            <a:endParaRPr lang="en-US" sz="690" dirty="0"/>
          </a:p>
        </p:txBody>
      </p:sp>
      <p:sp>
        <p:nvSpPr>
          <p:cNvPr id="11" name="Shape 8"/>
          <p:cNvSpPr/>
          <p:nvPr/>
        </p:nvSpPr>
        <p:spPr>
          <a:xfrm>
            <a:off x="384048" y="6364224"/>
            <a:ext cx="11430000" cy="0"/>
          </a:xfrm>
          <a:prstGeom prst="line">
            <a:avLst/>
          </a:prstGeom>
          <a:noFill/>
          <a:ln w="11430">
            <a:solidFill>
              <a:srgbClr val="173242"/>
            </a:solidFill>
            <a:prstDash val="solid"/>
          </a:ln>
        </p:spPr>
      </p:sp>
      <p:sp>
        <p:nvSpPr>
          <p:cNvPr id="12" name="Text 9"/>
          <p:cNvSpPr/>
          <p:nvPr/>
        </p:nvSpPr>
        <p:spPr>
          <a:xfrm>
            <a:off x="868680" y="1353312"/>
            <a:ext cx="3154680" cy="1143000"/>
          </a:xfrm>
          <a:prstGeom prst="rect">
            <a:avLst/>
          </a:prstGeom>
          <a:noFill/>
          <a:ln/>
        </p:spPr>
        <p:txBody>
          <a:bodyPr wrap="square" lIns="762" tIns="762" rIns="762" bIns="762" rtlCol="0" anchor="ctr">
            <a:normAutofit/>
          </a:bodyPr>
          <a:lstStyle/>
          <a:p>
            <a:r>
              <a:rPr sz="3100" b="1"/>
              <a:t>PROJECT</a:t>
            </a:r>
          </a:p>
          <a:p>
            <a:r>
              <a:rPr sz="3100" b="1"/>
              <a:t>ABSTRACT</a:t>
            </a:r>
          </a:p>
        </p:txBody>
      </p:sp>
      <p:sp>
        <p:nvSpPr>
          <p:cNvPr id="13" name="Text 10"/>
          <p:cNvSpPr/>
          <p:nvPr/>
        </p:nvSpPr>
        <p:spPr>
          <a:xfrm>
            <a:off x="4160520" y="1188720"/>
            <a:ext cx="6949440" cy="1993392"/>
          </a:xfrm>
          <a:prstGeom prst="rect">
            <a:avLst/>
          </a:prstGeom>
          <a:solidFill>
            <a:srgbClr val="EEF4DD"/>
          </a:solidFill>
          <a:ln w="12700">
            <a:solidFill>
              <a:srgbClr val="173242"/>
            </a:solidFill>
          </a:ln>
        </p:spPr>
        <p:txBody>
          <a:bodyPr wrap="square" lIns="762" tIns="762" rIns="762" bIns="762" rtlCol="0" anchor="ctr">
            <a:normAutofit/>
          </a:bodyPr>
          <a:lstStyle/>
          <a:p>
            <a:r>
              <a:rPr sz="1700"/>
              <a:t>Fitness Challenge App with Step Gamification is an Android (Kotlin) client with a Java / Spring Boot and MySQL backend. It connects daily steps with challenges, friends, leaderboards, achievements and rewards to support regular activity.</a:t>
            </a:r>
          </a:p>
        </p:txBody>
      </p:sp>
      <p:sp>
        <p:nvSpPr>
          <p:cNvPr id="14" name="Text 11"/>
          <p:cNvSpPr/>
          <p:nvPr/>
        </p:nvSpPr>
        <p:spPr>
          <a:xfrm>
            <a:off x="868680" y="3694176"/>
            <a:ext cx="7635240" cy="1335024"/>
          </a:xfrm>
          <a:prstGeom prst="rect">
            <a:avLst/>
          </a:prstGeom>
          <a:solidFill>
            <a:srgbClr val="FAFCF0"/>
          </a:solidFill>
          <a:ln w="12700">
            <a:solidFill>
              <a:srgbClr val="176563"/>
            </a:solidFill>
          </a:ln>
        </p:spPr>
        <p:txBody>
          <a:bodyPr wrap="square" lIns="762" tIns="762" rIns="762" bIns="762" rtlCol="0" anchor="ctr">
            <a:normAutofit/>
          </a:bodyPr>
          <a:lstStyle/>
          <a:p>
            <a:r>
              <a:rPr sz="1600"/>
              <a:t>REST APIs connect profiles, step records, challenges and rewards. The submitted material describes the design; it does not include a running build or test evidence.</a:t>
            </a:r>
          </a:p>
        </p:txBody>
      </p:sp>
      <p:sp>
        <p:nvSpPr>
          <p:cNvPr id="15" name="Text 12"/>
          <p:cNvSpPr/>
          <p:nvPr/>
        </p:nvSpPr>
        <p:spPr>
          <a:xfrm>
            <a:off x="8915400" y="3657600"/>
            <a:ext cx="1234440" cy="749808"/>
          </a:xfrm>
          <a:prstGeom prst="rect">
            <a:avLst/>
          </a:prstGeom>
          <a:solidFill>
            <a:srgbClr val="FAFCF0"/>
          </a:solidFill>
          <a:ln w="15240">
            <a:solidFill>
              <a:srgbClr val="176563"/>
            </a:solidFill>
          </a:ln>
        </p:spPr>
        <p:txBody>
          <a:bodyPr wrap="square" lIns="762" tIns="762" rIns="762" bIns="762" rtlCol="0" anchor="ctr">
            <a:normAutofit/>
          </a:bodyPr>
          <a:lstStyle/>
          <a:p>
            <a:r>
              <a:rPr sz="1700" b="1"/>
              <a:t>STEP</a:t>
            </a:r>
          </a:p>
          <a:p>
            <a:r>
              <a:rPr sz="1700" b="1"/>
              <a:t>TRACK</a:t>
            </a:r>
          </a:p>
        </p:txBody>
      </p:sp>
      <p:sp>
        <p:nvSpPr>
          <p:cNvPr id="16" name="Text 13"/>
          <p:cNvSpPr/>
          <p:nvPr/>
        </p:nvSpPr>
        <p:spPr>
          <a:xfrm>
            <a:off x="10287000" y="3657600"/>
            <a:ext cx="914400" cy="749808"/>
          </a:xfrm>
          <a:prstGeom prst="rect">
            <a:avLst/>
          </a:prstGeom>
          <a:solidFill>
            <a:srgbClr val="FAFCF0"/>
          </a:solidFill>
          <a:ln w="15240">
            <a:solidFill>
              <a:srgbClr val="9F303A"/>
            </a:solidFill>
          </a:ln>
        </p:spPr>
        <p:txBody>
          <a:bodyPr wrap="square" lIns="762" tIns="762" rIns="762" bIns="762" rtlCol="0" anchor="ctr">
            <a:normAutofit/>
          </a:bodyPr>
          <a:lstStyle/>
          <a:p>
            <a:r>
              <a:rPr sz="1700" b="1"/>
              <a:t>GROUPS</a:t>
            </a:r>
          </a:p>
          <a:p>
            <a:r>
              <a:rPr sz="1700" b="1"/>
              <a:t>JOIN</a:t>
            </a:r>
          </a:p>
        </p:txBody>
      </p:sp>
      <p:sp>
        <p:nvSpPr>
          <p:cNvPr id="17" name="Text 14"/>
          <p:cNvSpPr/>
          <p:nvPr/>
        </p:nvSpPr>
        <p:spPr>
          <a:xfrm>
            <a:off x="8915400" y="4599432"/>
            <a:ext cx="1234440" cy="749808"/>
          </a:xfrm>
          <a:prstGeom prst="rect">
            <a:avLst/>
          </a:prstGeom>
          <a:solidFill>
            <a:srgbClr val="FAFCF0"/>
          </a:solidFill>
          <a:ln w="15240">
            <a:solidFill>
              <a:srgbClr val="176563"/>
            </a:solidFill>
          </a:ln>
        </p:spPr>
        <p:txBody>
          <a:bodyPr wrap="square" lIns="762" tIns="762" rIns="762" bIns="762" rtlCol="0" anchor="ctr">
            <a:normAutofit/>
          </a:bodyPr>
          <a:lstStyle/>
          <a:p>
            <a:r>
              <a:rPr sz="1700" b="1"/>
              <a:t>POINTS</a:t>
            </a:r>
          </a:p>
          <a:p>
            <a:r>
              <a:rPr sz="1700" b="1"/>
              <a:t>EARN</a:t>
            </a:r>
          </a:p>
        </p:txBody>
      </p:sp>
      <p:sp>
        <p:nvSpPr>
          <p:cNvPr id="18" name="Text 15"/>
          <p:cNvSpPr/>
          <p:nvPr/>
        </p:nvSpPr>
        <p:spPr>
          <a:xfrm>
            <a:off x="10287000" y="4599432"/>
            <a:ext cx="914400" cy="749808"/>
          </a:xfrm>
          <a:prstGeom prst="rect">
            <a:avLst/>
          </a:prstGeom>
          <a:solidFill>
            <a:srgbClr val="FAFCF0"/>
          </a:solidFill>
          <a:ln w="15240">
            <a:solidFill>
              <a:srgbClr val="9F303A"/>
            </a:solidFill>
          </a:ln>
        </p:spPr>
        <p:txBody>
          <a:bodyPr wrap="square" lIns="762" tIns="762" rIns="762" bIns="762" rtlCol="0" anchor="ctr">
            <a:normAutofit/>
          </a:bodyPr>
          <a:lstStyle/>
          <a:p>
            <a:r>
              <a:rPr sz="1700" b="1"/>
              <a:t>REWARDS</a:t>
            </a:r>
          </a:p>
          <a:p>
            <a:r>
              <a:rPr sz="1700" b="1"/>
              <a:t>REDEEM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ED"/>
        </a:solidFill>
      </p:bgPr>
    </p:bg>
    <p:spTree>
      <p:nvGrpSpPr>
        <p:cNvPr id="1" name=""/>
        <p:cNvGrpSpPr/>
        <p:nvPr/>
      </p:nvGrpSpPr>
      <p:grpSpPr>
        <a:xfrm>
          <a:off x="0" y="0"/>
          <a:ext cx="0" cy="0"/>
          <a:chOff x="0" y="0"/>
          <a:chExt cx="0" cy="0"/>
        </a:xfrm>
      </p:grpSpPr>
      <p:sp>
        <p:nvSpPr>
          <p:cNvPr id="2" name="Shape 0"/>
          <p:cNvSpPr/>
          <p:nvPr/>
        </p:nvSpPr>
        <p:spPr>
          <a:xfrm>
            <a:off x="384048" y="91440"/>
            <a:ext cx="11430000" cy="6583680"/>
          </a:xfrm>
          <a:prstGeom prst="rect">
            <a:avLst/>
          </a:prstGeom>
          <a:solidFill>
            <a:srgbClr val="F7FAED">
              <a:alpha val="0"/>
            </a:srgbClr>
          </a:solidFill>
          <a:ln w="12700">
            <a:solidFill>
              <a:srgbClr val="CBD6BB"/>
            </a:solidFill>
            <a:prstDash val="solid"/>
          </a:ln>
        </p:spPr>
      </p:sp>
      <p:pic>
        <p:nvPicPr>
          <p:cNvPr id="3" name="Image 0" descr="/mnt/data/mlppt_unzip/ppt/media/image1.png">    </p:cNvPr>
          <p:cNvPicPr>
            <a:picLocks noChangeAspect="1"/>
          </p:cNvPicPr>
          <p:nvPr/>
        </p:nvPicPr>
        <p:blipFill>
          <a:blip r:embed="rId1"/>
          <a:stretch>
            <a:fillRect/>
          </a:stretch>
        </p:blipFill>
        <p:spPr>
          <a:xfrm>
            <a:off x="658368" y="173736"/>
            <a:ext cx="1243584" cy="457200"/>
          </a:xfrm>
          <a:prstGeom prst="rect">
            <a:avLst/>
          </a:prstGeom>
        </p:spPr>
      </p:pic>
      <p:sp>
        <p:nvSpPr>
          <p:cNvPr id="4" name="Text 1"/>
          <p:cNvSpPr/>
          <p:nvPr/>
        </p:nvSpPr>
        <p:spPr>
          <a:xfrm>
            <a:off x="2039112" y="164592"/>
            <a:ext cx="6858000" cy="438912"/>
          </a:xfrm>
          <a:prstGeom prst="rect">
            <a:avLst/>
          </a:prstGeom>
          <a:noFill/>
          <a:ln/>
        </p:spPr>
        <p:txBody>
          <a:bodyPr wrap="square" lIns="762" tIns="762" rIns="762" bIns="762" rtlCol="0" anchor="ctr">
            <a:normAutofit/>
          </a:bodyPr>
          <a:lstStyle/>
          <a:p>
            <a:pPr algn="l" indent="0" marL="0">
              <a:buNone/>
            </a:pPr>
            <a:r>
              <a:rPr lang="en-US" sz="2300" b="1" dirty="0">
                <a:solidFill>
                  <a:srgbClr val="173242"/>
                </a:solidFill>
                <a:latin typeface="Lato" pitchFamily="34" charset="0"/>
                <a:ea typeface="Lato" pitchFamily="34" charset="-122"/>
                <a:cs typeface="Lato" pitchFamily="34" charset="-120"/>
              </a:rPr>
              <a:t>FITNESS CHALLENGE APP</a:t>
            </a:r>
            <a:endParaRPr lang="en-US" sz="2300" dirty="0"/>
          </a:p>
        </p:txBody>
      </p:sp>
      <p:sp>
        <p:nvSpPr>
          <p:cNvPr id="5" name="Shape 2"/>
          <p:cNvSpPr/>
          <p:nvPr/>
        </p:nvSpPr>
        <p:spPr>
          <a:xfrm>
            <a:off x="384048" y="758952"/>
            <a:ext cx="11430000" cy="0"/>
          </a:xfrm>
          <a:prstGeom prst="line">
            <a:avLst/>
          </a:prstGeom>
          <a:noFill/>
          <a:ln w="11430">
            <a:solidFill>
              <a:srgbClr val="173242"/>
            </a:solidFill>
            <a:prstDash val="solid"/>
          </a:ln>
        </p:spPr>
      </p:sp>
      <p:sp>
        <p:nvSpPr>
          <p:cNvPr id="6" name="Text 3"/>
          <p:cNvSpPr/>
          <p:nvPr/>
        </p:nvSpPr>
        <p:spPr>
          <a:xfrm>
            <a:off x="9189720" y="859536"/>
            <a:ext cx="2176272" cy="164592"/>
          </a:xfrm>
          <a:prstGeom prst="rect">
            <a:avLst/>
          </a:prstGeom>
          <a:noFill/>
          <a:ln/>
        </p:spPr>
        <p:txBody>
          <a:bodyPr wrap="square" lIns="762" tIns="762" rIns="762" bIns="762" rtlCol="0" anchor="ctr">
            <a:normAutofit/>
          </a:bodyPr>
          <a:lstStyle/>
          <a:p>
            <a:pPr algn="r" indent="0" marL="0">
              <a:buNone/>
            </a:pPr>
            <a:r>
              <a:rPr lang="en-US" sz="780" dirty="0">
                <a:solidFill>
                  <a:srgbClr val="173242"/>
                </a:solidFill>
                <a:latin typeface="Lato" pitchFamily="34" charset="0"/>
                <a:ea typeface="Lato" pitchFamily="34" charset="-122"/>
                <a:cs typeface="Lato" pitchFamily="34" charset="-120"/>
              </a:rPr>
              <a:t>FINAL PRESENTATION | CSE | SECTION 04 | TEAM 10</a:t>
            </a:r>
            <a:endParaRPr lang="en-US" sz="780" dirty="0"/>
          </a:p>
        </p:txBody>
      </p:sp>
      <p:sp>
        <p:nvSpPr>
          <p:cNvPr id="7" name="Shape 4"/>
          <p:cNvSpPr/>
          <p:nvPr/>
        </p:nvSpPr>
        <p:spPr>
          <a:xfrm>
            <a:off x="384048" y="1069848"/>
            <a:ext cx="11430000" cy="0"/>
          </a:xfrm>
          <a:prstGeom prst="line">
            <a:avLst/>
          </a:prstGeom>
          <a:noFill/>
          <a:ln w="11430">
            <a:solidFill>
              <a:srgbClr val="173242"/>
            </a:solidFill>
            <a:prstDash val="solid"/>
          </a:ln>
        </p:spPr>
      </p:sp>
      <p:sp>
        <p:nvSpPr>
          <p:cNvPr id="8" name="Shape 5"/>
          <p:cNvSpPr/>
          <p:nvPr/>
        </p:nvSpPr>
        <p:spPr>
          <a:xfrm>
            <a:off x="384048" y="6053328"/>
            <a:ext cx="11430000" cy="0"/>
          </a:xfrm>
          <a:prstGeom prst="line">
            <a:avLst/>
          </a:prstGeom>
          <a:noFill/>
          <a:ln w="11430">
            <a:solidFill>
              <a:srgbClr val="173242"/>
            </a:solidFill>
            <a:prstDash val="solid"/>
          </a:ln>
        </p:spPr>
      </p:sp>
      <p:sp>
        <p:nvSpPr>
          <p:cNvPr id="9" name="Text 6"/>
          <p:cNvSpPr/>
          <p:nvPr/>
        </p:nvSpPr>
        <p:spPr>
          <a:xfrm>
            <a:off x="713232" y="6172200"/>
            <a:ext cx="8138160" cy="164592"/>
          </a:xfrm>
          <a:prstGeom prst="rect">
            <a:avLst/>
          </a:prstGeom>
          <a:noFill/>
          <a:ln/>
        </p:spPr>
        <p:txBody>
          <a:bodyPr wrap="square" lIns="762" tIns="762" rIns="762" bIns="762" rtlCol="0" anchor="ctr">
            <a:normAutofit/>
          </a:bodyPr>
          <a:lstStyle/>
          <a:p>
            <a:r>
              <a:rPr sz="800"/>
              <a:t>FITNESS CHALLENGE APP WITH STEP GAMIFICATION</a:t>
            </a:r>
          </a:p>
        </p:txBody>
      </p:sp>
      <p:sp>
        <p:nvSpPr>
          <p:cNvPr id="10" name="Text 7"/>
          <p:cNvSpPr/>
          <p:nvPr/>
        </p:nvSpPr>
        <p:spPr>
          <a:xfrm>
            <a:off x="10241280" y="6172200"/>
            <a:ext cx="1143000" cy="164592"/>
          </a:xfrm>
          <a:prstGeom prst="rect">
            <a:avLst/>
          </a:prstGeom>
          <a:noFill/>
          <a:ln/>
        </p:spPr>
        <p:txBody>
          <a:bodyPr wrap="square" lIns="762" tIns="762" rIns="762" bIns="762" rtlCol="0" anchor="ctr">
            <a:normAutofit/>
          </a:bodyPr>
          <a:lstStyle/>
          <a:p>
            <a:pPr algn="r" indent="0" marL="0">
              <a:buNone/>
            </a:pPr>
            <a:r>
              <a:rPr lang="en-US" sz="690" dirty="0">
                <a:solidFill>
                  <a:srgbClr val="173242"/>
                </a:solidFill>
                <a:latin typeface="Lato" pitchFamily="34" charset="0"/>
                <a:ea typeface="Lato" pitchFamily="34" charset="-122"/>
                <a:cs typeface="Lato" pitchFamily="34" charset="-120"/>
              </a:rPr>
              <a:t>A.Y. 2025–26</a:t>
            </a:r>
            <a:endParaRPr lang="en-US" sz="690" dirty="0"/>
          </a:p>
        </p:txBody>
      </p:sp>
      <p:sp>
        <p:nvSpPr>
          <p:cNvPr id="11" name="Shape 8"/>
          <p:cNvSpPr/>
          <p:nvPr/>
        </p:nvSpPr>
        <p:spPr>
          <a:xfrm>
            <a:off x="384048" y="6364224"/>
            <a:ext cx="11430000" cy="0"/>
          </a:xfrm>
          <a:prstGeom prst="line">
            <a:avLst/>
          </a:prstGeom>
          <a:noFill/>
          <a:ln w="11430">
            <a:solidFill>
              <a:srgbClr val="173242"/>
            </a:solidFill>
            <a:prstDash val="solid"/>
          </a:ln>
        </p:spPr>
      </p:sp>
      <p:sp>
        <p:nvSpPr>
          <p:cNvPr id="12" name="Text 9"/>
          <p:cNvSpPr/>
          <p:nvPr/>
        </p:nvSpPr>
        <p:spPr>
          <a:xfrm>
            <a:off x="868680" y="1335024"/>
            <a:ext cx="4389120" cy="914400"/>
          </a:xfrm>
          <a:prstGeom prst="rect">
            <a:avLst/>
          </a:prstGeom>
          <a:noFill/>
          <a:ln/>
        </p:spPr>
        <p:txBody>
          <a:bodyPr wrap="square" lIns="762" tIns="762" rIns="762" bIns="762" rtlCol="0" anchor="ctr">
            <a:normAutofit/>
          </a:bodyPr>
          <a:lstStyle/>
          <a:p>
            <a:r>
              <a:rPr sz="2700" b="1"/>
              <a:t>A DAILY WALK</a:t>
            </a:r>
          </a:p>
          <a:p>
            <a:r>
              <a:rPr sz="2700" b="1"/>
              <a:t>BECOMES A CHALLENGE</a:t>
            </a:r>
          </a:p>
        </p:txBody>
      </p:sp>
      <p:sp>
        <p:nvSpPr>
          <p:cNvPr id="13" name="Text 10"/>
          <p:cNvSpPr/>
          <p:nvPr/>
        </p:nvSpPr>
        <p:spPr>
          <a:xfrm>
            <a:off x="758952" y="2423160"/>
            <a:ext cx="5349240" cy="2468880"/>
          </a:xfrm>
          <a:prstGeom prst="rect">
            <a:avLst/>
          </a:prstGeom>
          <a:solidFill>
            <a:srgbClr val="FAFCF0"/>
          </a:solidFill>
          <a:ln w="12700">
            <a:solidFill>
              <a:srgbClr val="176563"/>
            </a:solidFill>
          </a:ln>
        </p:spPr>
        <p:txBody>
          <a:bodyPr wrap="square" lIns="762" tIns="762" rIns="762" bIns="762" rtlCol="0" anchor="ctr">
            <a:normAutofit/>
          </a:bodyPr>
          <a:lstStyle/>
          <a:p>
            <a:r>
              <a:rPr sz="1800"/>
              <a:t>Users record steps, work toward goals, join challenges and compare progress with friends. Streaks, points, badges and fitness coins reward activity; daily, weekly and monthly summaries make progress visible.</a:t>
            </a:r>
          </a:p>
        </p:txBody>
      </p:sp>
      <p:sp>
        <p:nvSpPr>
          <p:cNvPr id="14" name="Text 11"/>
          <p:cNvSpPr/>
          <p:nvPr/>
        </p:nvSpPr>
        <p:spPr>
          <a:xfrm>
            <a:off x="6492240" y="1335024"/>
            <a:ext cx="4480560" cy="914400"/>
          </a:xfrm>
          <a:prstGeom prst="rect">
            <a:avLst/>
          </a:prstGeom>
          <a:noFill/>
          <a:ln/>
        </p:spPr>
        <p:txBody>
          <a:bodyPr wrap="square" lIns="762" tIns="762" rIns="762" bIns="762" rtlCol="0" anchor="ctr">
            <a:normAutofit/>
          </a:bodyPr>
          <a:lstStyle/>
          <a:p>
            <a:r>
              <a:rPr sz="3100" b="1"/>
              <a:t>TEAM</a:t>
            </a:r>
          </a:p>
          <a:p>
            <a:r>
              <a:rPr sz="3100" b="1"/>
              <a:t>&amp; MODULES</a:t>
            </a:r>
          </a:p>
        </p:txBody>
      </p:sp>
      <p:sp>
        <p:nvSpPr>
          <p:cNvPr id="15" name="Text 12"/>
          <p:cNvSpPr/>
          <p:nvPr/>
        </p:nvSpPr>
        <p:spPr>
          <a:xfrm>
            <a:off x="6291072" y="2423160"/>
            <a:ext cx="5138928" cy="2468880"/>
          </a:xfrm>
          <a:prstGeom prst="rect">
            <a:avLst/>
          </a:prstGeom>
          <a:solidFill>
            <a:srgbClr val="EEF4DD"/>
          </a:solidFill>
          <a:ln w="12700">
            <a:solidFill>
              <a:srgbClr val="9F303A"/>
            </a:solidFill>
          </a:ln>
        </p:spPr>
        <p:txBody>
          <a:bodyPr wrap="square" lIns="762" tIns="762" rIns="762" bIns="762" rtlCol="0" anchor="ctr">
            <a:normAutofit/>
          </a:bodyPr>
          <a:lstStyle/>
          <a:p>
            <a:r>
              <a:rPr sz="1600"/>
              <a:t>Section: 04  |  Team: 10</a:t>
            </a:r>
          </a:p>
          <a:p>
            <a:r>
              <a:rPr lang="en-US"/>
              <a:t>PAPISETTY SHASHE PREETHAM — 2520030534</a:t>
            </a:r>
          </a:p>
          <a:p>
            <a:r>
              <a:rPr sz="1600"/>
              <a:t>Authentication &amp; profile management</a:t>
            </a:r>
          </a:p>
          <a:p>
            <a:r>
              <a:rPr sz="1600"/>
              <a:t>BURRAMUKKU ARYAN — 2520030343</a:t>
            </a:r>
          </a:p>
          <a:p>
            <a:r>
              <a:rPr sz="1600"/>
              <a:t>Steps, challenges &amp; leaderboard</a:t>
            </a:r>
          </a:p>
          <a:p>
            <a:r>
              <a:rPr sz="1600"/>
              <a:t>UPPALAPATI VENKATA NAGA VARSHITHA — 2520030206</a:t>
            </a:r>
          </a:p>
          <a:p>
            <a:r>
              <a:rPr lang="en-US"/>
              <a:t>Friends, gamification, rewards &amp; analytics</a:t>
            </a:r>
          </a:p>
          <a:p>
            <a:r>
              <a:rPr sz="1600"/>
              <a:t/>
            </a:r>
          </a:p>
        </p:txBody>
      </p:sp>
      <p:sp>
        <p:nvSpPr>
          <p:cNvPr id="16" name="Text 13"/>
          <p:cNvSpPr/>
          <p:nvPr/>
        </p:nvSpPr>
        <p:spPr>
          <a:xfrm>
            <a:off x="804672" y="5084064"/>
            <a:ext cx="1207008" cy="457200"/>
          </a:xfrm>
          <a:prstGeom prst="rect">
            <a:avLst/>
          </a:prstGeom>
          <a:solidFill>
            <a:srgbClr val="176563"/>
          </a:solidFill>
          <a:ln w="12700">
            <a:solidFill>
              <a:srgbClr val="176563"/>
            </a:solidFill>
          </a:ln>
        </p:spPr>
        <p:txBody>
          <a:bodyPr wrap="square" lIns="762" tIns="762" rIns="762" bIns="762" rtlCol="0" anchor="ctr">
            <a:normAutofit/>
          </a:bodyPr>
          <a:lstStyle/>
          <a:p>
            <a:r>
              <a:rPr sz="1100" b="1"/>
              <a:t>STEP SOURCE</a:t>
            </a:r>
          </a:p>
        </p:txBody>
      </p:sp>
      <p:sp>
        <p:nvSpPr>
          <p:cNvPr id="17" name="Text 14"/>
          <p:cNvSpPr/>
          <p:nvPr/>
        </p:nvSpPr>
        <p:spPr>
          <a:xfrm>
            <a:off x="2112264" y="5157216"/>
            <a:ext cx="228600" cy="228600"/>
          </a:xfrm>
          <a:prstGeom prst="rect">
            <a:avLst/>
          </a:prstGeom>
          <a:noFill/>
          <a:ln/>
        </p:spPr>
        <p:txBody>
          <a:bodyPr wrap="square" lIns="762" tIns="762" rIns="762" bIns="762" rtlCol="0" anchor="ctr">
            <a:normAutofit/>
          </a:bodyPr>
          <a:lstStyle/>
          <a:p>
            <a:pPr algn="ctr" indent="0" marL="0">
              <a:buNone/>
            </a:pPr>
            <a:r>
              <a:rPr lang="en-US" sz="1800" b="1" dirty="0">
                <a:solidFill>
                  <a:srgbClr val="173242"/>
                </a:solidFill>
                <a:latin typeface="Lato" pitchFamily="34" charset="0"/>
                <a:ea typeface="Lato" pitchFamily="34" charset="-122"/>
                <a:cs typeface="Lato" pitchFamily="34" charset="-120"/>
              </a:rPr>
              <a:t>→</a:t>
            </a:r>
            <a:endParaRPr lang="en-US" sz="1800" dirty="0"/>
          </a:p>
        </p:txBody>
      </p:sp>
      <p:sp>
        <p:nvSpPr>
          <p:cNvPr id="18" name="Text 15"/>
          <p:cNvSpPr/>
          <p:nvPr/>
        </p:nvSpPr>
        <p:spPr>
          <a:xfrm>
            <a:off x="2560320" y="5084064"/>
            <a:ext cx="1207008" cy="457200"/>
          </a:xfrm>
          <a:prstGeom prst="rect">
            <a:avLst/>
          </a:prstGeom>
          <a:solidFill>
            <a:srgbClr val="9F303A"/>
          </a:solidFill>
          <a:ln w="12700">
            <a:solidFill>
              <a:srgbClr val="9F303A"/>
            </a:solidFill>
          </a:ln>
        </p:spPr>
        <p:txBody>
          <a:bodyPr wrap="square" lIns="762" tIns="762" rIns="762" bIns="762" rtlCol="0" anchor="ctr">
            <a:normAutofit/>
          </a:bodyPr>
          <a:lstStyle/>
          <a:p>
            <a:r>
              <a:rPr sz="1100" b="1"/>
              <a:t>ANDROID APP</a:t>
            </a:r>
          </a:p>
        </p:txBody>
      </p:sp>
      <p:sp>
        <p:nvSpPr>
          <p:cNvPr id="19" name="Text 16"/>
          <p:cNvSpPr/>
          <p:nvPr/>
        </p:nvSpPr>
        <p:spPr>
          <a:xfrm>
            <a:off x="3867912" y="5157216"/>
            <a:ext cx="228600" cy="228600"/>
          </a:xfrm>
          <a:prstGeom prst="rect">
            <a:avLst/>
          </a:prstGeom>
          <a:noFill/>
          <a:ln/>
        </p:spPr>
        <p:txBody>
          <a:bodyPr wrap="square" lIns="762" tIns="762" rIns="762" bIns="762" rtlCol="0" anchor="ctr">
            <a:normAutofit/>
          </a:bodyPr>
          <a:lstStyle/>
          <a:p>
            <a:pPr algn="ctr" indent="0" marL="0">
              <a:buNone/>
            </a:pPr>
            <a:r>
              <a:rPr lang="en-US" sz="1800" b="1" dirty="0">
                <a:solidFill>
                  <a:srgbClr val="173242"/>
                </a:solidFill>
                <a:latin typeface="Lato" pitchFamily="34" charset="0"/>
                <a:ea typeface="Lato" pitchFamily="34" charset="-122"/>
                <a:cs typeface="Lato" pitchFamily="34" charset="-120"/>
              </a:rPr>
              <a:t>→</a:t>
            </a:r>
            <a:endParaRPr lang="en-US" sz="1800" dirty="0"/>
          </a:p>
        </p:txBody>
      </p:sp>
      <p:sp>
        <p:nvSpPr>
          <p:cNvPr id="20" name="Text 17"/>
          <p:cNvSpPr/>
          <p:nvPr/>
        </p:nvSpPr>
        <p:spPr>
          <a:xfrm>
            <a:off x="4315968" y="5084064"/>
            <a:ext cx="1207008" cy="457200"/>
          </a:xfrm>
          <a:prstGeom prst="rect">
            <a:avLst/>
          </a:prstGeom>
          <a:solidFill>
            <a:srgbClr val="176563"/>
          </a:solidFill>
          <a:ln w="12700">
            <a:solidFill>
              <a:srgbClr val="176563"/>
            </a:solidFill>
          </a:ln>
        </p:spPr>
        <p:txBody>
          <a:bodyPr wrap="square" lIns="762" tIns="762" rIns="762" bIns="762" rtlCol="0" anchor="ctr">
            <a:normAutofit/>
          </a:bodyPr>
          <a:lstStyle/>
          <a:p>
            <a:r>
              <a:rPr sz="1100" b="1"/>
              <a:t>REST API</a:t>
            </a:r>
          </a:p>
        </p:txBody>
      </p:sp>
      <p:sp>
        <p:nvSpPr>
          <p:cNvPr id="21" name="Text 18"/>
          <p:cNvSpPr/>
          <p:nvPr/>
        </p:nvSpPr>
        <p:spPr>
          <a:xfrm>
            <a:off x="5623560" y="5157216"/>
            <a:ext cx="228600" cy="228600"/>
          </a:xfrm>
          <a:prstGeom prst="rect">
            <a:avLst/>
          </a:prstGeom>
          <a:noFill/>
          <a:ln/>
        </p:spPr>
        <p:txBody>
          <a:bodyPr wrap="square" lIns="762" tIns="762" rIns="762" bIns="762" rtlCol="0" anchor="ctr">
            <a:normAutofit/>
          </a:bodyPr>
          <a:lstStyle/>
          <a:p>
            <a:pPr algn="ctr" indent="0" marL="0">
              <a:buNone/>
            </a:pPr>
            <a:r>
              <a:rPr lang="en-US" sz="1800" b="1" dirty="0">
                <a:solidFill>
                  <a:srgbClr val="173242"/>
                </a:solidFill>
                <a:latin typeface="Lato" pitchFamily="34" charset="0"/>
                <a:ea typeface="Lato" pitchFamily="34" charset="-122"/>
                <a:cs typeface="Lato" pitchFamily="34" charset="-120"/>
              </a:rPr>
              <a:t>→</a:t>
            </a:r>
            <a:endParaRPr lang="en-US" sz="1800" dirty="0"/>
          </a:p>
        </p:txBody>
      </p:sp>
      <p:sp>
        <p:nvSpPr>
          <p:cNvPr id="22" name="Text 19"/>
          <p:cNvSpPr/>
          <p:nvPr/>
        </p:nvSpPr>
        <p:spPr>
          <a:xfrm>
            <a:off x="6071616" y="5084064"/>
            <a:ext cx="1207008" cy="457200"/>
          </a:xfrm>
          <a:prstGeom prst="rect">
            <a:avLst/>
          </a:prstGeom>
          <a:solidFill>
            <a:srgbClr val="9F303A"/>
          </a:solidFill>
          <a:ln w="12700">
            <a:solidFill>
              <a:srgbClr val="9F303A"/>
            </a:solidFill>
          </a:ln>
        </p:spPr>
        <p:txBody>
          <a:bodyPr wrap="square" lIns="762" tIns="762" rIns="762" bIns="762" rtlCol="0" anchor="ctr">
            <a:normAutofit/>
          </a:bodyPr>
          <a:lstStyle/>
          <a:p>
            <a:r>
              <a:rPr sz="1100" b="1"/>
              <a:t>SPRING BOOT</a:t>
            </a:r>
          </a:p>
        </p:txBody>
      </p:sp>
      <p:sp>
        <p:nvSpPr>
          <p:cNvPr id="23" name="Text 20"/>
          <p:cNvSpPr/>
          <p:nvPr/>
        </p:nvSpPr>
        <p:spPr>
          <a:xfrm>
            <a:off x="7379208" y="5157216"/>
            <a:ext cx="228600" cy="228600"/>
          </a:xfrm>
          <a:prstGeom prst="rect">
            <a:avLst/>
          </a:prstGeom>
          <a:noFill/>
          <a:ln/>
        </p:spPr>
        <p:txBody>
          <a:bodyPr wrap="square" lIns="762" tIns="762" rIns="762" bIns="762" rtlCol="0" anchor="ctr">
            <a:normAutofit/>
          </a:bodyPr>
          <a:lstStyle/>
          <a:p>
            <a:pPr algn="ctr" indent="0" marL="0">
              <a:buNone/>
            </a:pPr>
            <a:r>
              <a:rPr lang="en-US" sz="1800" b="1" dirty="0">
                <a:solidFill>
                  <a:srgbClr val="173242"/>
                </a:solidFill>
                <a:latin typeface="Lato" pitchFamily="34" charset="0"/>
                <a:ea typeface="Lato" pitchFamily="34" charset="-122"/>
                <a:cs typeface="Lato" pitchFamily="34" charset="-120"/>
              </a:rPr>
              <a:t>→</a:t>
            </a:r>
            <a:endParaRPr lang="en-US" sz="1800" dirty="0"/>
          </a:p>
        </p:txBody>
      </p:sp>
      <p:sp>
        <p:nvSpPr>
          <p:cNvPr id="24" name="Text 21"/>
          <p:cNvSpPr/>
          <p:nvPr/>
        </p:nvSpPr>
        <p:spPr>
          <a:xfrm>
            <a:off x="7827264" y="5084064"/>
            <a:ext cx="1207008" cy="457200"/>
          </a:xfrm>
          <a:prstGeom prst="rect">
            <a:avLst/>
          </a:prstGeom>
          <a:solidFill>
            <a:srgbClr val="176563"/>
          </a:solidFill>
          <a:ln w="12700">
            <a:solidFill>
              <a:srgbClr val="176563"/>
            </a:solidFill>
          </a:ln>
        </p:spPr>
        <p:txBody>
          <a:bodyPr wrap="square" lIns="762" tIns="762" rIns="762" bIns="762" rtlCol="0" anchor="ctr">
            <a:normAutofit/>
          </a:bodyPr>
          <a:lstStyle/>
          <a:p>
            <a:r>
              <a:rPr sz="1100" b="1"/>
              <a:t>MYSQL DATA</a:t>
            </a:r>
          </a:p>
        </p:txBody>
      </p:sp>
      <p:sp>
        <p:nvSpPr>
          <p:cNvPr id="25" name="Text 22"/>
          <p:cNvSpPr/>
          <p:nvPr/>
        </p:nvSpPr>
        <p:spPr>
          <a:xfrm>
            <a:off x="9134856" y="5157216"/>
            <a:ext cx="228600" cy="228600"/>
          </a:xfrm>
          <a:prstGeom prst="rect">
            <a:avLst/>
          </a:prstGeom>
          <a:noFill/>
          <a:ln/>
        </p:spPr>
        <p:txBody>
          <a:bodyPr wrap="square" lIns="762" tIns="762" rIns="762" bIns="762" rtlCol="0" anchor="ctr">
            <a:normAutofit/>
          </a:bodyPr>
          <a:lstStyle/>
          <a:p>
            <a:pPr algn="ctr" indent="0" marL="0">
              <a:buNone/>
            </a:pPr>
            <a:r>
              <a:rPr lang="en-US" sz="1800" b="1" dirty="0">
                <a:solidFill>
                  <a:srgbClr val="173242"/>
                </a:solidFill>
                <a:latin typeface="Lato" pitchFamily="34" charset="0"/>
                <a:ea typeface="Lato" pitchFamily="34" charset="-122"/>
                <a:cs typeface="Lato" pitchFamily="34" charset="-120"/>
              </a:rPr>
              <a:t>→</a:t>
            </a:r>
            <a:endParaRPr lang="en-US" sz="1800" dirty="0"/>
          </a:p>
        </p:txBody>
      </p:sp>
      <p:sp>
        <p:nvSpPr>
          <p:cNvPr id="26" name="Text 23"/>
          <p:cNvSpPr/>
          <p:nvPr/>
        </p:nvSpPr>
        <p:spPr>
          <a:xfrm>
            <a:off x="9582912" y="5084064"/>
            <a:ext cx="1207008" cy="457200"/>
          </a:xfrm>
          <a:prstGeom prst="rect">
            <a:avLst/>
          </a:prstGeom>
          <a:solidFill>
            <a:srgbClr val="9F303A"/>
          </a:solidFill>
          <a:ln w="12700">
            <a:solidFill>
              <a:srgbClr val="9F303A"/>
            </a:solidFill>
          </a:ln>
        </p:spPr>
        <p:txBody>
          <a:bodyPr wrap="square" lIns="762" tIns="762" rIns="762" bIns="762" rtlCol="0" anchor="ctr">
            <a:normAutofit/>
          </a:bodyPr>
          <a:lstStyle/>
          <a:p>
            <a:r>
              <a:rPr sz="1100" b="1"/>
              <a:t>PROGRESS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ED"/>
        </a:solidFill>
      </p:bgPr>
    </p:bg>
    <p:spTree>
      <p:nvGrpSpPr>
        <p:cNvPr id="1" name=""/>
        <p:cNvGrpSpPr/>
        <p:nvPr/>
      </p:nvGrpSpPr>
      <p:grpSpPr>
        <a:xfrm>
          <a:off x="0" y="0"/>
          <a:ext cx="0" cy="0"/>
          <a:chOff x="0" y="0"/>
          <a:chExt cx="0" cy="0"/>
        </a:xfrm>
      </p:grpSpPr>
      <p:sp>
        <p:nvSpPr>
          <p:cNvPr id="2" name="Shape 0"/>
          <p:cNvSpPr/>
          <p:nvPr/>
        </p:nvSpPr>
        <p:spPr>
          <a:xfrm>
            <a:off x="384048" y="91440"/>
            <a:ext cx="11430000" cy="6583680"/>
          </a:xfrm>
          <a:prstGeom prst="rect">
            <a:avLst/>
          </a:prstGeom>
          <a:solidFill>
            <a:srgbClr val="F7FAED">
              <a:alpha val="0"/>
            </a:srgbClr>
          </a:solidFill>
          <a:ln w="12700">
            <a:solidFill>
              <a:srgbClr val="CBD6BB"/>
            </a:solidFill>
            <a:prstDash val="solid"/>
          </a:ln>
        </p:spPr>
      </p:sp>
      <p:pic>
        <p:nvPicPr>
          <p:cNvPr id="3" name="Image 0" descr="/mnt/data/mlppt_unzip/ppt/media/image1.png">    </p:cNvPr>
          <p:cNvPicPr>
            <a:picLocks noChangeAspect="1"/>
          </p:cNvPicPr>
          <p:nvPr/>
        </p:nvPicPr>
        <p:blipFill>
          <a:blip r:embed="rId1"/>
          <a:stretch>
            <a:fillRect/>
          </a:stretch>
        </p:blipFill>
        <p:spPr>
          <a:xfrm>
            <a:off x="658368" y="173736"/>
            <a:ext cx="1243584" cy="457200"/>
          </a:xfrm>
          <a:prstGeom prst="rect">
            <a:avLst/>
          </a:prstGeom>
        </p:spPr>
      </p:pic>
      <p:sp>
        <p:nvSpPr>
          <p:cNvPr id="4" name="Text 1"/>
          <p:cNvSpPr/>
          <p:nvPr/>
        </p:nvSpPr>
        <p:spPr>
          <a:xfrm>
            <a:off x="2039112" y="164592"/>
            <a:ext cx="6858000" cy="438912"/>
          </a:xfrm>
          <a:prstGeom prst="rect">
            <a:avLst/>
          </a:prstGeom>
          <a:noFill/>
          <a:ln/>
        </p:spPr>
        <p:txBody>
          <a:bodyPr wrap="square" lIns="762" tIns="762" rIns="762" bIns="762" rtlCol="0" anchor="ctr">
            <a:normAutofit/>
          </a:bodyPr>
          <a:lstStyle/>
          <a:p>
            <a:pPr algn="l" indent="0" marL="0">
              <a:buNone/>
            </a:pPr>
            <a:r>
              <a:rPr lang="en-US" sz="2300" b="1" dirty="0">
                <a:solidFill>
                  <a:srgbClr val="173242"/>
                </a:solidFill>
                <a:latin typeface="Lato" pitchFamily="34" charset="0"/>
                <a:ea typeface="Lato" pitchFamily="34" charset="-122"/>
                <a:cs typeface="Lato" pitchFamily="34" charset="-120"/>
              </a:rPr>
              <a:t>FITNESS CHALLENGE APP</a:t>
            </a:r>
            <a:endParaRPr lang="en-US" sz="2300" dirty="0"/>
          </a:p>
        </p:txBody>
      </p:sp>
      <p:sp>
        <p:nvSpPr>
          <p:cNvPr id="5" name="Shape 2"/>
          <p:cNvSpPr/>
          <p:nvPr/>
        </p:nvSpPr>
        <p:spPr>
          <a:xfrm>
            <a:off x="384048" y="758952"/>
            <a:ext cx="11430000" cy="0"/>
          </a:xfrm>
          <a:prstGeom prst="line">
            <a:avLst/>
          </a:prstGeom>
          <a:noFill/>
          <a:ln w="11430">
            <a:solidFill>
              <a:srgbClr val="173242"/>
            </a:solidFill>
            <a:prstDash val="solid"/>
          </a:ln>
        </p:spPr>
      </p:sp>
      <p:sp>
        <p:nvSpPr>
          <p:cNvPr id="6" name="Text 3"/>
          <p:cNvSpPr/>
          <p:nvPr/>
        </p:nvSpPr>
        <p:spPr>
          <a:xfrm>
            <a:off x="9189720" y="859536"/>
            <a:ext cx="2176272" cy="164592"/>
          </a:xfrm>
          <a:prstGeom prst="rect">
            <a:avLst/>
          </a:prstGeom>
          <a:noFill/>
          <a:ln/>
        </p:spPr>
        <p:txBody>
          <a:bodyPr wrap="square" lIns="762" tIns="762" rIns="762" bIns="762" rtlCol="0" anchor="ctr">
            <a:normAutofit/>
          </a:bodyPr>
          <a:lstStyle/>
          <a:p>
            <a:pPr algn="r" indent="0" marL="0">
              <a:buNone/>
            </a:pPr>
            <a:r>
              <a:rPr lang="en-US" sz="780" dirty="0">
                <a:solidFill>
                  <a:srgbClr val="173242"/>
                </a:solidFill>
                <a:latin typeface="Lato" pitchFamily="34" charset="0"/>
                <a:ea typeface="Lato" pitchFamily="34" charset="-122"/>
                <a:cs typeface="Lato" pitchFamily="34" charset="-120"/>
              </a:rPr>
              <a:t>FINAL PRESENTATION | CSE | SECTION 04 | TEAM 10</a:t>
            </a:r>
            <a:endParaRPr lang="en-US" sz="780" dirty="0"/>
          </a:p>
        </p:txBody>
      </p:sp>
      <p:sp>
        <p:nvSpPr>
          <p:cNvPr id="7" name="Shape 4"/>
          <p:cNvSpPr/>
          <p:nvPr/>
        </p:nvSpPr>
        <p:spPr>
          <a:xfrm>
            <a:off x="384048" y="1069848"/>
            <a:ext cx="11430000" cy="0"/>
          </a:xfrm>
          <a:prstGeom prst="line">
            <a:avLst/>
          </a:prstGeom>
          <a:noFill/>
          <a:ln w="11430">
            <a:solidFill>
              <a:srgbClr val="173242"/>
            </a:solidFill>
            <a:prstDash val="solid"/>
          </a:ln>
        </p:spPr>
      </p:sp>
      <p:sp>
        <p:nvSpPr>
          <p:cNvPr id="8" name="Shape 5"/>
          <p:cNvSpPr/>
          <p:nvPr/>
        </p:nvSpPr>
        <p:spPr>
          <a:xfrm>
            <a:off x="384048" y="6053328"/>
            <a:ext cx="11430000" cy="0"/>
          </a:xfrm>
          <a:prstGeom prst="line">
            <a:avLst/>
          </a:prstGeom>
          <a:noFill/>
          <a:ln w="11430">
            <a:solidFill>
              <a:srgbClr val="173242"/>
            </a:solidFill>
            <a:prstDash val="solid"/>
          </a:ln>
        </p:spPr>
      </p:sp>
      <p:sp>
        <p:nvSpPr>
          <p:cNvPr id="9" name="Text 6"/>
          <p:cNvSpPr/>
          <p:nvPr/>
        </p:nvSpPr>
        <p:spPr>
          <a:xfrm>
            <a:off x="713232" y="6172200"/>
            <a:ext cx="8138160" cy="164592"/>
          </a:xfrm>
          <a:prstGeom prst="rect">
            <a:avLst/>
          </a:prstGeom>
          <a:noFill/>
          <a:ln/>
        </p:spPr>
        <p:txBody>
          <a:bodyPr wrap="square" lIns="762" tIns="762" rIns="762" bIns="762" rtlCol="0" anchor="ctr">
            <a:normAutofit/>
          </a:bodyPr>
          <a:lstStyle/>
          <a:p>
            <a:r>
              <a:rPr sz="800"/>
              <a:t>FITNESS CHALLENGE APP WITH STEP GAMIFICATION</a:t>
            </a:r>
          </a:p>
        </p:txBody>
      </p:sp>
      <p:sp>
        <p:nvSpPr>
          <p:cNvPr id="10" name="Text 7"/>
          <p:cNvSpPr/>
          <p:nvPr/>
        </p:nvSpPr>
        <p:spPr>
          <a:xfrm>
            <a:off x="10241280" y="6172200"/>
            <a:ext cx="1143000" cy="164592"/>
          </a:xfrm>
          <a:prstGeom prst="rect">
            <a:avLst/>
          </a:prstGeom>
          <a:noFill/>
          <a:ln/>
        </p:spPr>
        <p:txBody>
          <a:bodyPr wrap="square" lIns="762" tIns="762" rIns="762" bIns="762" rtlCol="0" anchor="ctr">
            <a:normAutofit/>
          </a:bodyPr>
          <a:lstStyle/>
          <a:p>
            <a:pPr algn="r" indent="0" marL="0">
              <a:buNone/>
            </a:pPr>
            <a:r>
              <a:rPr lang="en-US" sz="690" dirty="0">
                <a:solidFill>
                  <a:srgbClr val="173242"/>
                </a:solidFill>
                <a:latin typeface="Lato" pitchFamily="34" charset="0"/>
                <a:ea typeface="Lato" pitchFamily="34" charset="-122"/>
                <a:cs typeface="Lato" pitchFamily="34" charset="-120"/>
              </a:rPr>
              <a:t>A.Y. 2025–26</a:t>
            </a:r>
            <a:endParaRPr lang="en-US" sz="690" dirty="0"/>
          </a:p>
        </p:txBody>
      </p:sp>
      <p:sp>
        <p:nvSpPr>
          <p:cNvPr id="11" name="Shape 8"/>
          <p:cNvSpPr/>
          <p:nvPr/>
        </p:nvSpPr>
        <p:spPr>
          <a:xfrm>
            <a:off x="384048" y="6364224"/>
            <a:ext cx="11430000" cy="0"/>
          </a:xfrm>
          <a:prstGeom prst="line">
            <a:avLst/>
          </a:prstGeom>
          <a:noFill/>
          <a:ln w="11430">
            <a:solidFill>
              <a:srgbClr val="173242"/>
            </a:solidFill>
            <a:prstDash val="solid"/>
          </a:ln>
        </p:spPr>
      </p:sp>
      <p:sp>
        <p:nvSpPr>
          <p:cNvPr id="12" name="Text 9"/>
          <p:cNvSpPr/>
          <p:nvPr/>
        </p:nvSpPr>
        <p:spPr>
          <a:xfrm>
            <a:off x="868680" y="1170432"/>
            <a:ext cx="2743200" cy="594360"/>
          </a:xfrm>
          <a:prstGeom prst="rect">
            <a:avLst/>
          </a:prstGeom>
          <a:noFill/>
          <a:ln/>
        </p:spPr>
        <p:txBody>
          <a:bodyPr wrap="square" lIns="762" tIns="762" rIns="762" bIns="762" rtlCol="0" anchor="ctr">
            <a:normAutofit/>
          </a:bodyPr>
          <a:lstStyle/>
          <a:p>
            <a:r>
              <a:rPr sz="2700" b="1"/>
              <a:t>MOTIVATION</a:t>
            </a:r>
          </a:p>
          <a:p>
            <a:r>
              <a:rPr sz="2700" b="1"/>
              <a:t>GAP</a:t>
            </a:r>
          </a:p>
        </p:txBody>
      </p:sp>
      <p:sp>
        <p:nvSpPr>
          <p:cNvPr id="13" name="Text 10"/>
          <p:cNvSpPr/>
          <p:nvPr/>
        </p:nvSpPr>
        <p:spPr>
          <a:xfrm>
            <a:off x="3977640" y="1234440"/>
            <a:ext cx="7132320" cy="457200"/>
          </a:xfrm>
          <a:prstGeom prst="rect">
            <a:avLst/>
          </a:prstGeom>
          <a:solidFill>
            <a:srgbClr val="173242"/>
          </a:solidFill>
          <a:ln w="12700">
            <a:solidFill>
              <a:srgbClr val="879587"/>
            </a:solidFill>
          </a:ln>
        </p:spPr>
        <p:txBody>
          <a:bodyPr wrap="square" lIns="762" tIns="762" rIns="762" bIns="762" rtlCol="0" anchor="ctr">
            <a:normAutofit/>
          </a:bodyPr>
          <a:lstStyle/>
          <a:p>
            <a:r>
              <a:rPr sz="2200" b="1"/>
              <a:t>GAPS IN THE EXISTING APPROACH</a:t>
            </a:r>
          </a:p>
        </p:txBody>
      </p:sp>
      <p:sp>
        <p:nvSpPr>
          <p:cNvPr id="14" name="Text 11"/>
          <p:cNvSpPr/>
          <p:nvPr/>
        </p:nvSpPr>
        <p:spPr>
          <a:xfrm>
            <a:off x="749808" y="1993392"/>
            <a:ext cx="2944368" cy="658368"/>
          </a:xfrm>
          <a:prstGeom prst="rect">
            <a:avLst/>
          </a:prstGeom>
          <a:solidFill>
            <a:srgbClr val="FAFCF0"/>
          </a:solidFill>
          <a:ln w="12700">
            <a:solidFill>
              <a:srgbClr val="879587"/>
            </a:solidFill>
          </a:ln>
        </p:spPr>
        <p:txBody>
          <a:bodyPr wrap="square" lIns="762" tIns="762" rIns="762" bIns="762" rtlCol="0" anchor="ctr">
            <a:normAutofit/>
          </a:bodyPr>
          <a:lstStyle/>
          <a:p>
            <a:r>
              <a:rPr sz="1500" b="1"/>
              <a:t>Basic tracking</a:t>
            </a:r>
          </a:p>
        </p:txBody>
      </p:sp>
      <p:sp>
        <p:nvSpPr>
          <p:cNvPr id="15" name="Text 12"/>
          <p:cNvSpPr/>
          <p:nvPr/>
        </p:nvSpPr>
        <p:spPr>
          <a:xfrm>
            <a:off x="3694176" y="1993392"/>
            <a:ext cx="7607808" cy="658368"/>
          </a:xfrm>
          <a:prstGeom prst="rect">
            <a:avLst/>
          </a:prstGeom>
          <a:solidFill>
            <a:srgbClr val="FAFCF0"/>
          </a:solidFill>
          <a:ln w="12700">
            <a:solidFill>
              <a:srgbClr val="879587"/>
            </a:solidFill>
          </a:ln>
        </p:spPr>
        <p:txBody>
          <a:bodyPr wrap="square" lIns="762" tIns="762" rIns="762" bIns="762" rtlCol="0" anchor="ctr">
            <a:normAutofit/>
          </a:bodyPr>
          <a:lstStyle/>
          <a:p>
            <a:r>
              <a:rPr sz="1300"/>
              <a:t>Many apps record steps and activity statistics but offer limited reasons to stay engaged.</a:t>
            </a:r>
          </a:p>
        </p:txBody>
      </p:sp>
      <p:sp>
        <p:nvSpPr>
          <p:cNvPr id="16" name="Text 13"/>
          <p:cNvSpPr/>
          <p:nvPr/>
        </p:nvSpPr>
        <p:spPr>
          <a:xfrm>
            <a:off x="749808" y="2779776"/>
            <a:ext cx="2944368" cy="658368"/>
          </a:xfrm>
          <a:prstGeom prst="rect">
            <a:avLst/>
          </a:prstGeom>
          <a:solidFill>
            <a:srgbClr val="E8F0D6"/>
          </a:solidFill>
          <a:ln w="12700">
            <a:solidFill>
              <a:srgbClr val="879587"/>
            </a:solidFill>
          </a:ln>
        </p:spPr>
        <p:txBody>
          <a:bodyPr wrap="square" lIns="762" tIns="762" rIns="762" bIns="762" rtlCol="0" anchor="ctr">
            <a:normAutofit/>
          </a:bodyPr>
          <a:lstStyle/>
          <a:p>
            <a:r>
              <a:rPr sz="1500" b="1"/>
              <a:t>Limited social layer</a:t>
            </a:r>
          </a:p>
        </p:txBody>
      </p:sp>
      <p:sp>
        <p:nvSpPr>
          <p:cNvPr id="17" name="Text 14"/>
          <p:cNvSpPr/>
          <p:nvPr/>
        </p:nvSpPr>
        <p:spPr>
          <a:xfrm>
            <a:off x="3694176" y="2779776"/>
            <a:ext cx="7607808" cy="658368"/>
          </a:xfrm>
          <a:prstGeom prst="rect">
            <a:avLst/>
          </a:prstGeom>
          <a:solidFill>
            <a:srgbClr val="E8F0D6"/>
          </a:solidFill>
          <a:ln w="12700">
            <a:solidFill>
              <a:srgbClr val="879587"/>
            </a:solidFill>
          </a:ln>
        </p:spPr>
        <p:txBody>
          <a:bodyPr wrap="square" lIns="762" tIns="762" rIns="762" bIns="762" rtlCol="0" anchor="ctr">
            <a:normAutofit/>
          </a:bodyPr>
          <a:lstStyle/>
          <a:p>
            <a:r>
              <a:rPr sz="1300"/>
              <a:t>Challenges, friends and leaderboards may be missing or disconnected.</a:t>
            </a:r>
          </a:p>
        </p:txBody>
      </p:sp>
      <p:sp>
        <p:nvSpPr>
          <p:cNvPr id="18" name="Text 15"/>
          <p:cNvSpPr/>
          <p:nvPr/>
        </p:nvSpPr>
        <p:spPr>
          <a:xfrm>
            <a:off x="749808" y="3566160"/>
            <a:ext cx="2944368" cy="658368"/>
          </a:xfrm>
          <a:prstGeom prst="rect">
            <a:avLst/>
          </a:prstGeom>
          <a:solidFill>
            <a:srgbClr val="FAFCF0"/>
          </a:solidFill>
          <a:ln w="12700">
            <a:solidFill>
              <a:srgbClr val="879587"/>
            </a:solidFill>
          </a:ln>
        </p:spPr>
        <p:txBody>
          <a:bodyPr wrap="square" lIns="762" tIns="762" rIns="762" bIns="762" rtlCol="0" anchor="ctr">
            <a:normAutofit/>
          </a:bodyPr>
          <a:lstStyle/>
          <a:p>
            <a:r>
              <a:rPr sz="1500" b="1"/>
              <a:t>Disconnected rewards</a:t>
            </a:r>
          </a:p>
        </p:txBody>
      </p:sp>
      <p:sp>
        <p:nvSpPr>
          <p:cNvPr id="19" name="Text 16"/>
          <p:cNvSpPr/>
          <p:nvPr/>
        </p:nvSpPr>
        <p:spPr>
          <a:xfrm>
            <a:off x="3694176" y="3566160"/>
            <a:ext cx="7607808" cy="658368"/>
          </a:xfrm>
          <a:prstGeom prst="rect">
            <a:avLst/>
          </a:prstGeom>
          <a:solidFill>
            <a:srgbClr val="FAFCF0"/>
          </a:solidFill>
          <a:ln w="12700">
            <a:solidFill>
              <a:srgbClr val="879587"/>
            </a:solidFill>
          </a:ln>
        </p:spPr>
        <p:txBody>
          <a:bodyPr wrap="square" lIns="762" tIns="762" rIns="762" bIns="762" rtlCol="0" anchor="ctr">
            <a:normAutofit/>
          </a:bodyPr>
          <a:lstStyle/>
          <a:p>
            <a:r>
              <a:rPr sz="1300"/>
              <a:t>Achievements and rewards are not always tied to activity progress.</a:t>
            </a:r>
          </a:p>
        </p:txBody>
      </p:sp>
      <p:sp>
        <p:nvSpPr>
          <p:cNvPr id="20" name="Text 17"/>
          <p:cNvSpPr/>
          <p:nvPr/>
        </p:nvSpPr>
        <p:spPr>
          <a:xfrm>
            <a:off x="749808" y="4352544"/>
            <a:ext cx="2944368" cy="658368"/>
          </a:xfrm>
          <a:prstGeom prst="rect">
            <a:avLst/>
          </a:prstGeom>
          <a:solidFill>
            <a:srgbClr val="E8F0D6"/>
          </a:solidFill>
          <a:ln w="12700">
            <a:solidFill>
              <a:srgbClr val="879587"/>
            </a:solidFill>
          </a:ln>
        </p:spPr>
        <p:txBody>
          <a:bodyPr wrap="square" lIns="762" tIns="762" rIns="762" bIns="762" rtlCol="0" anchor="ctr">
            <a:normAutofit/>
          </a:bodyPr>
          <a:lstStyle/>
          <a:p>
            <a:r>
              <a:rPr sz="1500" b="1"/>
              <a:t>Fragmented experience</a:t>
            </a:r>
          </a:p>
        </p:txBody>
      </p:sp>
      <p:sp>
        <p:nvSpPr>
          <p:cNvPr id="21" name="Text 18"/>
          <p:cNvSpPr/>
          <p:nvPr/>
        </p:nvSpPr>
        <p:spPr>
          <a:xfrm>
            <a:off x="3694176" y="4352544"/>
            <a:ext cx="7607808" cy="658368"/>
          </a:xfrm>
          <a:prstGeom prst="rect">
            <a:avLst/>
          </a:prstGeom>
          <a:solidFill>
            <a:srgbClr val="E8F0D6"/>
          </a:solidFill>
          <a:ln w="12700">
            <a:solidFill>
              <a:srgbClr val="879587"/>
            </a:solidFill>
          </a:ln>
        </p:spPr>
        <p:txBody>
          <a:bodyPr wrap="square" lIns="762" tIns="762" rIns="762" bIns="762" rtlCol="0" anchor="ctr">
            <a:normAutofit/>
          </a:bodyPr>
          <a:lstStyle/>
          <a:p>
            <a:r>
              <a:rPr sz="1300"/>
              <a:t>Users need one flow from activity records to competition, feedback and motivation.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ED"/>
        </a:solidFill>
      </p:bgPr>
    </p:bg>
    <p:spTree>
      <p:nvGrpSpPr>
        <p:cNvPr id="1" name=""/>
        <p:cNvGrpSpPr/>
        <p:nvPr/>
      </p:nvGrpSpPr>
      <p:grpSpPr>
        <a:xfrm>
          <a:off x="0" y="0"/>
          <a:ext cx="0" cy="0"/>
          <a:chOff x="0" y="0"/>
          <a:chExt cx="0" cy="0"/>
        </a:xfrm>
      </p:grpSpPr>
      <p:sp>
        <p:nvSpPr>
          <p:cNvPr id="2" name="Shape 0"/>
          <p:cNvSpPr/>
          <p:nvPr/>
        </p:nvSpPr>
        <p:spPr>
          <a:xfrm>
            <a:off x="384048" y="91440"/>
            <a:ext cx="11430000" cy="6583680"/>
          </a:xfrm>
          <a:prstGeom prst="rect">
            <a:avLst/>
          </a:prstGeom>
          <a:solidFill>
            <a:srgbClr val="F7FAED">
              <a:alpha val="0"/>
            </a:srgbClr>
          </a:solidFill>
          <a:ln w="12700">
            <a:solidFill>
              <a:srgbClr val="CBD6BB"/>
            </a:solidFill>
            <a:prstDash val="solid"/>
          </a:ln>
        </p:spPr>
      </p:sp>
      <p:pic>
        <p:nvPicPr>
          <p:cNvPr id="3" name="Image 0" descr="/mnt/data/mlppt_unzip/ppt/media/image1.png">    </p:cNvPr>
          <p:cNvPicPr>
            <a:picLocks noChangeAspect="1"/>
          </p:cNvPicPr>
          <p:nvPr/>
        </p:nvPicPr>
        <p:blipFill>
          <a:blip r:embed="rId1"/>
          <a:stretch>
            <a:fillRect/>
          </a:stretch>
        </p:blipFill>
        <p:spPr>
          <a:xfrm>
            <a:off x="658368" y="173736"/>
            <a:ext cx="1243584" cy="457200"/>
          </a:xfrm>
          <a:prstGeom prst="rect">
            <a:avLst/>
          </a:prstGeom>
        </p:spPr>
      </p:pic>
      <p:sp>
        <p:nvSpPr>
          <p:cNvPr id="4" name="Text 1"/>
          <p:cNvSpPr/>
          <p:nvPr/>
        </p:nvSpPr>
        <p:spPr>
          <a:xfrm>
            <a:off x="2039112" y="164592"/>
            <a:ext cx="6858000" cy="438912"/>
          </a:xfrm>
          <a:prstGeom prst="rect">
            <a:avLst/>
          </a:prstGeom>
          <a:noFill/>
          <a:ln/>
        </p:spPr>
        <p:txBody>
          <a:bodyPr wrap="square" lIns="762" tIns="762" rIns="762" bIns="762" rtlCol="0" anchor="ctr">
            <a:normAutofit/>
          </a:bodyPr>
          <a:lstStyle/>
          <a:p>
            <a:pPr algn="l" indent="0" marL="0">
              <a:buNone/>
            </a:pPr>
            <a:r>
              <a:rPr lang="en-US" sz="2300" b="1" dirty="0">
                <a:solidFill>
                  <a:srgbClr val="173242"/>
                </a:solidFill>
                <a:latin typeface="Lato" pitchFamily="34" charset="0"/>
                <a:ea typeface="Lato" pitchFamily="34" charset="-122"/>
                <a:cs typeface="Lato" pitchFamily="34" charset="-120"/>
              </a:rPr>
              <a:t>FITNESS CHALLENGE APP</a:t>
            </a:r>
            <a:endParaRPr lang="en-US" sz="2300" dirty="0"/>
          </a:p>
        </p:txBody>
      </p:sp>
      <p:sp>
        <p:nvSpPr>
          <p:cNvPr id="5" name="Shape 2"/>
          <p:cNvSpPr/>
          <p:nvPr/>
        </p:nvSpPr>
        <p:spPr>
          <a:xfrm>
            <a:off x="384048" y="758952"/>
            <a:ext cx="11430000" cy="0"/>
          </a:xfrm>
          <a:prstGeom prst="line">
            <a:avLst/>
          </a:prstGeom>
          <a:noFill/>
          <a:ln w="11430">
            <a:solidFill>
              <a:srgbClr val="173242"/>
            </a:solidFill>
            <a:prstDash val="solid"/>
          </a:ln>
        </p:spPr>
      </p:sp>
      <p:sp>
        <p:nvSpPr>
          <p:cNvPr id="6" name="Text 3"/>
          <p:cNvSpPr/>
          <p:nvPr/>
        </p:nvSpPr>
        <p:spPr>
          <a:xfrm>
            <a:off x="9189720" y="859536"/>
            <a:ext cx="2176272" cy="164592"/>
          </a:xfrm>
          <a:prstGeom prst="rect">
            <a:avLst/>
          </a:prstGeom>
          <a:noFill/>
          <a:ln/>
        </p:spPr>
        <p:txBody>
          <a:bodyPr wrap="square" lIns="762" tIns="762" rIns="762" bIns="762" rtlCol="0" anchor="ctr">
            <a:normAutofit/>
          </a:bodyPr>
          <a:lstStyle/>
          <a:p>
            <a:pPr algn="r" indent="0" marL="0">
              <a:buNone/>
            </a:pPr>
            <a:r>
              <a:rPr lang="en-US" sz="780" dirty="0">
                <a:solidFill>
                  <a:srgbClr val="173242"/>
                </a:solidFill>
                <a:latin typeface="Lato" pitchFamily="34" charset="0"/>
                <a:ea typeface="Lato" pitchFamily="34" charset="-122"/>
                <a:cs typeface="Lato" pitchFamily="34" charset="-120"/>
              </a:rPr>
              <a:t>FINAL PRESENTATION | CSE | SECTION 04 | TEAM 10</a:t>
            </a:r>
            <a:endParaRPr lang="en-US" sz="780" dirty="0"/>
          </a:p>
        </p:txBody>
      </p:sp>
      <p:sp>
        <p:nvSpPr>
          <p:cNvPr id="7" name="Shape 4"/>
          <p:cNvSpPr/>
          <p:nvPr/>
        </p:nvSpPr>
        <p:spPr>
          <a:xfrm>
            <a:off x="384048" y="1069848"/>
            <a:ext cx="11430000" cy="0"/>
          </a:xfrm>
          <a:prstGeom prst="line">
            <a:avLst/>
          </a:prstGeom>
          <a:noFill/>
          <a:ln w="11430">
            <a:solidFill>
              <a:srgbClr val="173242"/>
            </a:solidFill>
            <a:prstDash val="solid"/>
          </a:ln>
        </p:spPr>
      </p:sp>
      <p:sp>
        <p:nvSpPr>
          <p:cNvPr id="8" name="Shape 5"/>
          <p:cNvSpPr/>
          <p:nvPr/>
        </p:nvSpPr>
        <p:spPr>
          <a:xfrm>
            <a:off x="384048" y="6053328"/>
            <a:ext cx="11430000" cy="0"/>
          </a:xfrm>
          <a:prstGeom prst="line">
            <a:avLst/>
          </a:prstGeom>
          <a:noFill/>
          <a:ln w="11430">
            <a:solidFill>
              <a:srgbClr val="173242"/>
            </a:solidFill>
            <a:prstDash val="solid"/>
          </a:ln>
        </p:spPr>
      </p:sp>
      <p:sp>
        <p:nvSpPr>
          <p:cNvPr id="9" name="Text 6"/>
          <p:cNvSpPr/>
          <p:nvPr/>
        </p:nvSpPr>
        <p:spPr>
          <a:xfrm>
            <a:off x="713232" y="6172200"/>
            <a:ext cx="8138160" cy="164592"/>
          </a:xfrm>
          <a:prstGeom prst="rect">
            <a:avLst/>
          </a:prstGeom>
          <a:noFill/>
          <a:ln/>
        </p:spPr>
        <p:txBody>
          <a:bodyPr wrap="square" lIns="762" tIns="762" rIns="762" bIns="762" rtlCol="0" anchor="ctr">
            <a:normAutofit/>
          </a:bodyPr>
          <a:lstStyle/>
          <a:p>
            <a:r>
              <a:rPr sz="800"/>
              <a:t>FITNESS CHALLENGE APP WITH STEP GAMIFICATION</a:t>
            </a:r>
          </a:p>
        </p:txBody>
      </p:sp>
      <p:sp>
        <p:nvSpPr>
          <p:cNvPr id="10" name="Text 7"/>
          <p:cNvSpPr/>
          <p:nvPr/>
        </p:nvSpPr>
        <p:spPr>
          <a:xfrm>
            <a:off x="10241280" y="6172200"/>
            <a:ext cx="1143000" cy="164592"/>
          </a:xfrm>
          <a:prstGeom prst="rect">
            <a:avLst/>
          </a:prstGeom>
          <a:noFill/>
          <a:ln/>
        </p:spPr>
        <p:txBody>
          <a:bodyPr wrap="square" lIns="762" tIns="762" rIns="762" bIns="762" rtlCol="0" anchor="ctr">
            <a:normAutofit/>
          </a:bodyPr>
          <a:lstStyle/>
          <a:p>
            <a:pPr algn="r" indent="0" marL="0">
              <a:buNone/>
            </a:pPr>
            <a:r>
              <a:rPr lang="en-US" sz="690" dirty="0">
                <a:solidFill>
                  <a:srgbClr val="173242"/>
                </a:solidFill>
                <a:latin typeface="Lato" pitchFamily="34" charset="0"/>
                <a:ea typeface="Lato" pitchFamily="34" charset="-122"/>
                <a:cs typeface="Lato" pitchFamily="34" charset="-120"/>
              </a:rPr>
              <a:t>A.Y. 2025–26</a:t>
            </a:r>
            <a:endParaRPr lang="en-US" sz="690" dirty="0"/>
          </a:p>
        </p:txBody>
      </p:sp>
      <p:sp>
        <p:nvSpPr>
          <p:cNvPr id="11" name="Shape 8"/>
          <p:cNvSpPr/>
          <p:nvPr/>
        </p:nvSpPr>
        <p:spPr>
          <a:xfrm>
            <a:off x="384048" y="6364224"/>
            <a:ext cx="11430000" cy="0"/>
          </a:xfrm>
          <a:prstGeom prst="line">
            <a:avLst/>
          </a:prstGeom>
          <a:noFill/>
          <a:ln w="11430">
            <a:solidFill>
              <a:srgbClr val="173242"/>
            </a:solidFill>
            <a:prstDash val="solid"/>
          </a:ln>
        </p:spPr>
      </p:sp>
      <p:sp>
        <p:nvSpPr>
          <p:cNvPr id="12" name="Text 9"/>
          <p:cNvSpPr/>
          <p:nvPr/>
        </p:nvSpPr>
        <p:spPr>
          <a:xfrm>
            <a:off x="804672" y="1234440"/>
            <a:ext cx="2560320" cy="804672"/>
          </a:xfrm>
          <a:prstGeom prst="rect">
            <a:avLst/>
          </a:prstGeom>
          <a:noFill/>
          <a:ln/>
        </p:spPr>
        <p:txBody>
          <a:bodyPr wrap="square" lIns="762" tIns="762" rIns="762" bIns="762" rtlCol="0" anchor="ctr">
            <a:normAutofit/>
          </a:bodyPr>
          <a:lstStyle/>
          <a:p>
            <a:r>
              <a:rPr sz="2900" b="1"/>
              <a:t>PROPOSED</a:t>
            </a:r>
          </a:p>
          <a:p>
            <a:r>
              <a:rPr sz="2900" b="1"/>
              <a:t>SOLUTION</a:t>
            </a:r>
          </a:p>
        </p:txBody>
      </p:sp>
      <p:sp>
        <p:nvSpPr>
          <p:cNvPr id="13" name="Text 10"/>
          <p:cNvSpPr/>
          <p:nvPr/>
        </p:nvSpPr>
        <p:spPr>
          <a:xfrm>
            <a:off x="3401568" y="1243584"/>
            <a:ext cx="7726680" cy="685800"/>
          </a:xfrm>
          <a:prstGeom prst="rect">
            <a:avLst/>
          </a:prstGeom>
          <a:solidFill>
            <a:srgbClr val="EEF4DD"/>
          </a:solidFill>
          <a:ln w="12700">
            <a:solidFill>
              <a:srgbClr val="173242"/>
            </a:solidFill>
          </a:ln>
        </p:spPr>
        <p:txBody>
          <a:bodyPr wrap="square" lIns="762" tIns="762" rIns="762" bIns="762" rtlCol="0" anchor="ctr">
            <a:normAutofit/>
          </a:bodyPr>
          <a:lstStyle/>
          <a:p>
            <a:r>
              <a:rPr sz="1700"/>
              <a:t>The app connects step data, challenges, social competition, achievements, rewards and activity analytics in one Android experience.</a:t>
            </a:r>
          </a:p>
        </p:txBody>
      </p:sp>
      <p:sp>
        <p:nvSpPr>
          <p:cNvPr id="14" name="Text 11"/>
          <p:cNvSpPr/>
          <p:nvPr/>
        </p:nvSpPr>
        <p:spPr>
          <a:xfrm>
            <a:off x="822960" y="2423160"/>
            <a:ext cx="640080" cy="530352"/>
          </a:xfrm>
          <a:prstGeom prst="rect">
            <a:avLst/>
          </a:prstGeom>
          <a:solidFill>
            <a:srgbClr val="176563"/>
          </a:solidFill>
          <a:ln w="12700">
            <a:solidFill>
              <a:srgbClr val="176563"/>
            </a:solidFill>
          </a:ln>
        </p:spPr>
        <p:txBody>
          <a:bodyPr wrap="square" lIns="762" tIns="762" rIns="762" bIns="762" rtlCol="0" anchor="ctr">
            <a:normAutofit/>
          </a:bodyPr>
          <a:lstStyle/>
          <a:p>
            <a:pPr algn="ctr" indent="0" marL="0">
              <a:buNone/>
            </a:pPr>
            <a:r>
              <a:rPr lang="en-US" sz="1800" b="1" dirty="0">
                <a:solidFill>
                  <a:srgbClr val="FFFFFF"/>
                </a:solidFill>
                <a:latin typeface="Lato" pitchFamily="34" charset="0"/>
                <a:ea typeface="Lato" pitchFamily="34" charset="-122"/>
                <a:cs typeface="Lato" pitchFamily="34" charset="-120"/>
              </a:rPr>
              <a:t>01</a:t>
            </a:r>
            <a:endParaRPr lang="en-US" sz="1800" dirty="0"/>
          </a:p>
        </p:txBody>
      </p:sp>
      <p:sp>
        <p:nvSpPr>
          <p:cNvPr id="15" name="Text 12"/>
          <p:cNvSpPr/>
          <p:nvPr/>
        </p:nvSpPr>
        <p:spPr>
          <a:xfrm>
            <a:off x="1572768" y="2423160"/>
            <a:ext cx="4160520" cy="256032"/>
          </a:xfrm>
          <a:prstGeom prst="rect">
            <a:avLst/>
          </a:prstGeom>
          <a:noFill/>
          <a:ln/>
        </p:spPr>
        <p:txBody>
          <a:bodyPr wrap="square" lIns="762" tIns="762" rIns="762" bIns="762" rtlCol="0" anchor="ctr">
            <a:normAutofit/>
          </a:bodyPr>
          <a:lstStyle/>
          <a:p>
            <a:r>
              <a:rPr sz="1600" b="1"/>
              <a:t>Step Tracking</a:t>
            </a:r>
          </a:p>
        </p:txBody>
      </p:sp>
      <p:sp>
        <p:nvSpPr>
          <p:cNvPr id="16" name="Text 13"/>
          <p:cNvSpPr/>
          <p:nvPr/>
        </p:nvSpPr>
        <p:spPr>
          <a:xfrm>
            <a:off x="1572768" y="2743200"/>
            <a:ext cx="4160520" cy="502920"/>
          </a:xfrm>
          <a:prstGeom prst="rect">
            <a:avLst/>
          </a:prstGeom>
          <a:solidFill>
            <a:srgbClr val="FAFCF0"/>
          </a:solidFill>
          <a:ln w="12700">
            <a:solidFill>
              <a:srgbClr val="176563"/>
            </a:solidFill>
          </a:ln>
        </p:spPr>
        <p:txBody>
          <a:bodyPr wrap="square" lIns="762" tIns="762" rIns="762" bIns="762" rtlCol="0" anchor="ctr">
            <a:normAutofit/>
          </a:bodyPr>
          <a:lstStyle/>
          <a:p>
            <a:r>
              <a:rPr sz="1300"/>
              <a:t>Sync daily steps, monitor goals and review weekly and monthly activity.</a:t>
            </a:r>
          </a:p>
        </p:txBody>
      </p:sp>
      <p:sp>
        <p:nvSpPr>
          <p:cNvPr id="17" name="Text 14"/>
          <p:cNvSpPr/>
          <p:nvPr/>
        </p:nvSpPr>
        <p:spPr>
          <a:xfrm>
            <a:off x="6172200" y="2423160"/>
            <a:ext cx="640080" cy="530352"/>
          </a:xfrm>
          <a:prstGeom prst="rect">
            <a:avLst/>
          </a:prstGeom>
          <a:solidFill>
            <a:srgbClr val="9F303A"/>
          </a:solidFill>
          <a:ln w="12700">
            <a:solidFill>
              <a:srgbClr val="9F303A"/>
            </a:solidFill>
          </a:ln>
        </p:spPr>
        <p:txBody>
          <a:bodyPr wrap="square" lIns="762" tIns="762" rIns="762" bIns="762" rtlCol="0" anchor="ctr">
            <a:normAutofit/>
          </a:bodyPr>
          <a:lstStyle/>
          <a:p>
            <a:pPr algn="ctr" indent="0" marL="0">
              <a:buNone/>
            </a:pPr>
            <a:r>
              <a:rPr lang="en-US" sz="1800" b="1" dirty="0">
                <a:solidFill>
                  <a:srgbClr val="FFFFFF"/>
                </a:solidFill>
                <a:latin typeface="Lato" pitchFamily="34" charset="0"/>
                <a:ea typeface="Lato" pitchFamily="34" charset="-122"/>
                <a:cs typeface="Lato" pitchFamily="34" charset="-120"/>
              </a:rPr>
              <a:t>02</a:t>
            </a:r>
            <a:endParaRPr lang="en-US" sz="1800" dirty="0"/>
          </a:p>
        </p:txBody>
      </p:sp>
      <p:sp>
        <p:nvSpPr>
          <p:cNvPr id="18" name="Text 15"/>
          <p:cNvSpPr/>
          <p:nvPr/>
        </p:nvSpPr>
        <p:spPr>
          <a:xfrm>
            <a:off x="6922008" y="2423160"/>
            <a:ext cx="4160520" cy="256032"/>
          </a:xfrm>
          <a:prstGeom prst="rect">
            <a:avLst/>
          </a:prstGeom>
          <a:noFill/>
          <a:ln/>
        </p:spPr>
        <p:txBody>
          <a:bodyPr wrap="square" lIns="762" tIns="762" rIns="762" bIns="762" rtlCol="0" anchor="ctr">
            <a:normAutofit/>
          </a:bodyPr>
          <a:lstStyle/>
          <a:p>
            <a:r>
              <a:rPr sz="1600" b="1"/>
              <a:t>Challenges</a:t>
            </a:r>
          </a:p>
        </p:txBody>
      </p:sp>
      <p:sp>
        <p:nvSpPr>
          <p:cNvPr id="19" name="Text 16"/>
          <p:cNvSpPr/>
          <p:nvPr/>
        </p:nvSpPr>
        <p:spPr>
          <a:xfrm>
            <a:off x="6922008" y="2743200"/>
            <a:ext cx="4160520" cy="502920"/>
          </a:xfrm>
          <a:prstGeom prst="rect">
            <a:avLst/>
          </a:prstGeom>
          <a:solidFill>
            <a:srgbClr val="FAFCF0"/>
          </a:solidFill>
          <a:ln w="12700">
            <a:solidFill>
              <a:srgbClr val="9F303A"/>
            </a:solidFill>
          </a:ln>
        </p:spPr>
        <p:txBody>
          <a:bodyPr wrap="square" lIns="762" tIns="762" rIns="762" bIns="762" rtlCol="0" anchor="ctr">
            <a:normAutofit/>
          </a:bodyPr>
          <a:lstStyle/>
          <a:p>
            <a:r>
              <a:rPr sz="1300"/>
              <a:t>Join step-based challenges and follow progress toward a target.</a:t>
            </a:r>
          </a:p>
        </p:txBody>
      </p:sp>
      <p:sp>
        <p:nvSpPr>
          <p:cNvPr id="20" name="Text 17"/>
          <p:cNvSpPr/>
          <p:nvPr/>
        </p:nvSpPr>
        <p:spPr>
          <a:xfrm>
            <a:off x="822960" y="4069080"/>
            <a:ext cx="640080" cy="530352"/>
          </a:xfrm>
          <a:prstGeom prst="rect">
            <a:avLst/>
          </a:prstGeom>
          <a:solidFill>
            <a:srgbClr val="176563"/>
          </a:solidFill>
          <a:ln w="12700">
            <a:solidFill>
              <a:srgbClr val="176563"/>
            </a:solidFill>
          </a:ln>
        </p:spPr>
        <p:txBody>
          <a:bodyPr wrap="square" lIns="762" tIns="762" rIns="762" bIns="762" rtlCol="0" anchor="ctr">
            <a:normAutofit/>
          </a:bodyPr>
          <a:lstStyle/>
          <a:p>
            <a:pPr algn="ctr" indent="0" marL="0">
              <a:buNone/>
            </a:pPr>
            <a:r>
              <a:rPr lang="en-US" sz="1800" b="1" dirty="0">
                <a:solidFill>
                  <a:srgbClr val="FFFFFF"/>
                </a:solidFill>
                <a:latin typeface="Lato" pitchFamily="34" charset="0"/>
                <a:ea typeface="Lato" pitchFamily="34" charset="-122"/>
                <a:cs typeface="Lato" pitchFamily="34" charset="-120"/>
              </a:rPr>
              <a:t>03</a:t>
            </a:r>
            <a:endParaRPr lang="en-US" sz="1800" dirty="0"/>
          </a:p>
        </p:txBody>
      </p:sp>
      <p:sp>
        <p:nvSpPr>
          <p:cNvPr id="21" name="Text 18"/>
          <p:cNvSpPr/>
          <p:nvPr/>
        </p:nvSpPr>
        <p:spPr>
          <a:xfrm>
            <a:off x="1572768" y="4069080"/>
            <a:ext cx="4160520" cy="256032"/>
          </a:xfrm>
          <a:prstGeom prst="rect">
            <a:avLst/>
          </a:prstGeom>
          <a:noFill/>
          <a:ln/>
        </p:spPr>
        <p:txBody>
          <a:bodyPr wrap="square" lIns="762" tIns="762" rIns="762" bIns="762" rtlCol="0" anchor="ctr">
            <a:normAutofit/>
          </a:bodyPr>
          <a:lstStyle/>
          <a:p>
            <a:r>
              <a:rPr sz="1600" b="1"/>
              <a:t>Friends &amp; Leaderboards</a:t>
            </a:r>
          </a:p>
        </p:txBody>
      </p:sp>
      <p:sp>
        <p:nvSpPr>
          <p:cNvPr id="22" name="Text 19"/>
          <p:cNvSpPr/>
          <p:nvPr/>
        </p:nvSpPr>
        <p:spPr>
          <a:xfrm>
            <a:off x="1572768" y="4389120"/>
            <a:ext cx="4160520" cy="502920"/>
          </a:xfrm>
          <a:prstGeom prst="rect">
            <a:avLst/>
          </a:prstGeom>
          <a:solidFill>
            <a:srgbClr val="FAFCF0"/>
          </a:solidFill>
          <a:ln w="12700">
            <a:solidFill>
              <a:srgbClr val="176563"/>
            </a:solidFill>
          </a:ln>
        </p:spPr>
        <p:txBody>
          <a:bodyPr wrap="square" lIns="762" tIns="762" rIns="762" bIns="762" rtlCol="0" anchor="ctr">
            <a:normAutofit/>
          </a:bodyPr>
          <a:lstStyle/>
          <a:p>
            <a:r>
              <a:rPr sz="1300"/>
              <a:t>Connect with friends and compare challenge totals.</a:t>
            </a:r>
          </a:p>
        </p:txBody>
      </p:sp>
      <p:sp>
        <p:nvSpPr>
          <p:cNvPr id="23" name="Text 20"/>
          <p:cNvSpPr/>
          <p:nvPr/>
        </p:nvSpPr>
        <p:spPr>
          <a:xfrm>
            <a:off x="6172200" y="4069080"/>
            <a:ext cx="640080" cy="530352"/>
          </a:xfrm>
          <a:prstGeom prst="rect">
            <a:avLst/>
          </a:prstGeom>
          <a:solidFill>
            <a:srgbClr val="9F303A"/>
          </a:solidFill>
          <a:ln w="12700">
            <a:solidFill>
              <a:srgbClr val="9F303A"/>
            </a:solidFill>
          </a:ln>
        </p:spPr>
        <p:txBody>
          <a:bodyPr wrap="square" lIns="762" tIns="762" rIns="762" bIns="762" rtlCol="0" anchor="ctr">
            <a:normAutofit/>
          </a:bodyPr>
          <a:lstStyle/>
          <a:p>
            <a:pPr algn="ctr" indent="0" marL="0">
              <a:buNone/>
            </a:pPr>
            <a:r>
              <a:rPr lang="en-US" sz="1800" b="1" dirty="0">
                <a:solidFill>
                  <a:srgbClr val="FFFFFF"/>
                </a:solidFill>
                <a:latin typeface="Lato" pitchFamily="34" charset="0"/>
                <a:ea typeface="Lato" pitchFamily="34" charset="-122"/>
                <a:cs typeface="Lato" pitchFamily="34" charset="-120"/>
              </a:rPr>
              <a:t>04</a:t>
            </a:r>
            <a:endParaRPr lang="en-US" sz="1800" dirty="0"/>
          </a:p>
        </p:txBody>
      </p:sp>
      <p:sp>
        <p:nvSpPr>
          <p:cNvPr id="24" name="Text 21"/>
          <p:cNvSpPr/>
          <p:nvPr/>
        </p:nvSpPr>
        <p:spPr>
          <a:xfrm>
            <a:off x="6922008" y="4069080"/>
            <a:ext cx="4160520" cy="256032"/>
          </a:xfrm>
          <a:prstGeom prst="rect">
            <a:avLst/>
          </a:prstGeom>
          <a:noFill/>
          <a:ln/>
        </p:spPr>
        <p:txBody>
          <a:bodyPr wrap="square" lIns="762" tIns="762" rIns="762" bIns="762" rtlCol="0" anchor="ctr">
            <a:normAutofit/>
          </a:bodyPr>
          <a:lstStyle/>
          <a:p>
            <a:r>
              <a:rPr sz="1600" b="1"/>
              <a:t>Gamification &amp; Rewards</a:t>
            </a:r>
          </a:p>
        </p:txBody>
      </p:sp>
      <p:sp>
        <p:nvSpPr>
          <p:cNvPr id="25" name="Text 22"/>
          <p:cNvSpPr/>
          <p:nvPr/>
        </p:nvSpPr>
        <p:spPr>
          <a:xfrm>
            <a:off x="6922008" y="4389120"/>
            <a:ext cx="4160520" cy="502920"/>
          </a:xfrm>
          <a:prstGeom prst="rect">
            <a:avLst/>
          </a:prstGeom>
          <a:solidFill>
            <a:srgbClr val="FAFCF0"/>
          </a:solidFill>
          <a:ln w="12700">
            <a:solidFill>
              <a:srgbClr val="9F303A"/>
            </a:solidFill>
          </a:ln>
        </p:spPr>
        <p:txBody>
          <a:bodyPr wrap="square" lIns="762" tIns="762" rIns="762" bIns="762" rtlCol="0" anchor="ctr">
            <a:normAutofit/>
          </a:bodyPr>
          <a:lstStyle/>
          <a:p>
            <a:r>
              <a:rPr sz="1300"/>
              <a:t>Build streaks, earn points and badges, and redeem fitness coins.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ED"/>
        </a:solidFill>
      </p:bgPr>
    </p:bg>
    <p:spTree>
      <p:nvGrpSpPr>
        <p:cNvPr id="1" name=""/>
        <p:cNvGrpSpPr/>
        <p:nvPr/>
      </p:nvGrpSpPr>
      <p:grpSpPr>
        <a:xfrm>
          <a:off x="0" y="0"/>
          <a:ext cx="0" cy="0"/>
          <a:chOff x="0" y="0"/>
          <a:chExt cx="0" cy="0"/>
        </a:xfrm>
      </p:grpSpPr>
      <p:sp>
        <p:nvSpPr>
          <p:cNvPr id="2" name="Shape 0"/>
          <p:cNvSpPr/>
          <p:nvPr/>
        </p:nvSpPr>
        <p:spPr>
          <a:xfrm>
            <a:off x="384048" y="91440"/>
            <a:ext cx="11430000" cy="6583680"/>
          </a:xfrm>
          <a:prstGeom prst="rect">
            <a:avLst/>
          </a:prstGeom>
          <a:solidFill>
            <a:srgbClr val="F7FAED">
              <a:alpha val="0"/>
            </a:srgbClr>
          </a:solidFill>
          <a:ln w="12700">
            <a:solidFill>
              <a:srgbClr val="CBD6BB"/>
            </a:solidFill>
            <a:prstDash val="solid"/>
          </a:ln>
        </p:spPr>
      </p:sp>
      <p:pic>
        <p:nvPicPr>
          <p:cNvPr id="3" name="Image 0" descr="/mnt/data/mlppt_unzip/ppt/media/image1.png">    </p:cNvPr>
          <p:cNvPicPr>
            <a:picLocks noChangeAspect="1"/>
          </p:cNvPicPr>
          <p:nvPr/>
        </p:nvPicPr>
        <p:blipFill>
          <a:blip r:embed="rId1"/>
          <a:stretch>
            <a:fillRect/>
          </a:stretch>
        </p:blipFill>
        <p:spPr>
          <a:xfrm>
            <a:off x="658368" y="173736"/>
            <a:ext cx="1243584" cy="457200"/>
          </a:xfrm>
          <a:prstGeom prst="rect">
            <a:avLst/>
          </a:prstGeom>
        </p:spPr>
      </p:pic>
      <p:sp>
        <p:nvSpPr>
          <p:cNvPr id="4" name="Text 1"/>
          <p:cNvSpPr/>
          <p:nvPr/>
        </p:nvSpPr>
        <p:spPr>
          <a:xfrm>
            <a:off x="2039112" y="164592"/>
            <a:ext cx="6858000" cy="438912"/>
          </a:xfrm>
          <a:prstGeom prst="rect">
            <a:avLst/>
          </a:prstGeom>
          <a:noFill/>
          <a:ln/>
        </p:spPr>
        <p:txBody>
          <a:bodyPr wrap="square" lIns="762" tIns="762" rIns="762" bIns="762" rtlCol="0" anchor="ctr">
            <a:normAutofit/>
          </a:bodyPr>
          <a:lstStyle/>
          <a:p>
            <a:pPr algn="l" indent="0" marL="0">
              <a:buNone/>
            </a:pPr>
            <a:r>
              <a:rPr lang="en-US" sz="2300" b="1" dirty="0">
                <a:solidFill>
                  <a:srgbClr val="173242"/>
                </a:solidFill>
                <a:latin typeface="Lato" pitchFamily="34" charset="0"/>
                <a:ea typeface="Lato" pitchFamily="34" charset="-122"/>
                <a:cs typeface="Lato" pitchFamily="34" charset="-120"/>
              </a:rPr>
              <a:t>FITNESS CHALLENGE APP</a:t>
            </a:r>
            <a:endParaRPr lang="en-US" sz="2300" dirty="0"/>
          </a:p>
        </p:txBody>
      </p:sp>
      <p:sp>
        <p:nvSpPr>
          <p:cNvPr id="5" name="Shape 2"/>
          <p:cNvSpPr/>
          <p:nvPr/>
        </p:nvSpPr>
        <p:spPr>
          <a:xfrm>
            <a:off x="384048" y="758952"/>
            <a:ext cx="11430000" cy="0"/>
          </a:xfrm>
          <a:prstGeom prst="line">
            <a:avLst/>
          </a:prstGeom>
          <a:noFill/>
          <a:ln w="11430">
            <a:solidFill>
              <a:srgbClr val="173242"/>
            </a:solidFill>
            <a:prstDash val="solid"/>
          </a:ln>
        </p:spPr>
      </p:sp>
      <p:sp>
        <p:nvSpPr>
          <p:cNvPr id="6" name="Text 3"/>
          <p:cNvSpPr/>
          <p:nvPr/>
        </p:nvSpPr>
        <p:spPr>
          <a:xfrm>
            <a:off x="9189720" y="859536"/>
            <a:ext cx="2176272" cy="164592"/>
          </a:xfrm>
          <a:prstGeom prst="rect">
            <a:avLst/>
          </a:prstGeom>
          <a:noFill/>
          <a:ln/>
        </p:spPr>
        <p:txBody>
          <a:bodyPr wrap="square" lIns="762" tIns="762" rIns="762" bIns="762" rtlCol="0" anchor="ctr">
            <a:normAutofit/>
          </a:bodyPr>
          <a:lstStyle/>
          <a:p>
            <a:pPr algn="r" indent="0" marL="0">
              <a:buNone/>
            </a:pPr>
            <a:r>
              <a:rPr lang="en-US" sz="780" dirty="0">
                <a:solidFill>
                  <a:srgbClr val="173242"/>
                </a:solidFill>
                <a:latin typeface="Lato" pitchFamily="34" charset="0"/>
                <a:ea typeface="Lato" pitchFamily="34" charset="-122"/>
                <a:cs typeface="Lato" pitchFamily="34" charset="-120"/>
              </a:rPr>
              <a:t>FINAL PRESENTATION | CSE | SECTION 04 | TEAM 10</a:t>
            </a:r>
            <a:endParaRPr lang="en-US" sz="780" dirty="0"/>
          </a:p>
        </p:txBody>
      </p:sp>
      <p:sp>
        <p:nvSpPr>
          <p:cNvPr id="7" name="Shape 4"/>
          <p:cNvSpPr/>
          <p:nvPr/>
        </p:nvSpPr>
        <p:spPr>
          <a:xfrm>
            <a:off x="384048" y="1069848"/>
            <a:ext cx="11430000" cy="0"/>
          </a:xfrm>
          <a:prstGeom prst="line">
            <a:avLst/>
          </a:prstGeom>
          <a:noFill/>
          <a:ln w="11430">
            <a:solidFill>
              <a:srgbClr val="173242"/>
            </a:solidFill>
            <a:prstDash val="solid"/>
          </a:ln>
        </p:spPr>
      </p:sp>
      <p:sp>
        <p:nvSpPr>
          <p:cNvPr id="8" name="Shape 5"/>
          <p:cNvSpPr/>
          <p:nvPr/>
        </p:nvSpPr>
        <p:spPr>
          <a:xfrm>
            <a:off x="384048" y="6053328"/>
            <a:ext cx="11430000" cy="0"/>
          </a:xfrm>
          <a:prstGeom prst="line">
            <a:avLst/>
          </a:prstGeom>
          <a:noFill/>
          <a:ln w="11430">
            <a:solidFill>
              <a:srgbClr val="173242"/>
            </a:solidFill>
            <a:prstDash val="solid"/>
          </a:ln>
        </p:spPr>
      </p:sp>
      <p:sp>
        <p:nvSpPr>
          <p:cNvPr id="9" name="Text 6"/>
          <p:cNvSpPr/>
          <p:nvPr/>
        </p:nvSpPr>
        <p:spPr>
          <a:xfrm>
            <a:off x="713232" y="6172200"/>
            <a:ext cx="8138160" cy="164592"/>
          </a:xfrm>
          <a:prstGeom prst="rect">
            <a:avLst/>
          </a:prstGeom>
          <a:noFill/>
          <a:ln/>
        </p:spPr>
        <p:txBody>
          <a:bodyPr wrap="square" lIns="762" tIns="762" rIns="762" bIns="762" rtlCol="0" anchor="ctr">
            <a:normAutofit/>
          </a:bodyPr>
          <a:lstStyle/>
          <a:p>
            <a:r>
              <a:rPr sz="800"/>
              <a:t>FITNESS CHALLENGE APP WITH STEP GAMIFICATION</a:t>
            </a:r>
          </a:p>
        </p:txBody>
      </p:sp>
      <p:sp>
        <p:nvSpPr>
          <p:cNvPr id="10" name="Text 7"/>
          <p:cNvSpPr/>
          <p:nvPr/>
        </p:nvSpPr>
        <p:spPr>
          <a:xfrm>
            <a:off x="10241280" y="6172200"/>
            <a:ext cx="1143000" cy="164592"/>
          </a:xfrm>
          <a:prstGeom prst="rect">
            <a:avLst/>
          </a:prstGeom>
          <a:noFill/>
          <a:ln/>
        </p:spPr>
        <p:txBody>
          <a:bodyPr wrap="square" lIns="762" tIns="762" rIns="762" bIns="762" rtlCol="0" anchor="ctr">
            <a:normAutofit/>
          </a:bodyPr>
          <a:lstStyle/>
          <a:p>
            <a:pPr algn="r" indent="0" marL="0">
              <a:buNone/>
            </a:pPr>
            <a:r>
              <a:rPr lang="en-US" sz="690" dirty="0">
                <a:solidFill>
                  <a:srgbClr val="173242"/>
                </a:solidFill>
                <a:latin typeface="Lato" pitchFamily="34" charset="0"/>
                <a:ea typeface="Lato" pitchFamily="34" charset="-122"/>
                <a:cs typeface="Lato" pitchFamily="34" charset="-120"/>
              </a:rPr>
              <a:t>A.Y. 2025–26</a:t>
            </a:r>
            <a:endParaRPr lang="en-US" sz="690" dirty="0"/>
          </a:p>
        </p:txBody>
      </p:sp>
      <p:sp>
        <p:nvSpPr>
          <p:cNvPr id="11" name="Shape 8"/>
          <p:cNvSpPr/>
          <p:nvPr/>
        </p:nvSpPr>
        <p:spPr>
          <a:xfrm>
            <a:off x="384048" y="6364224"/>
            <a:ext cx="11430000" cy="0"/>
          </a:xfrm>
          <a:prstGeom prst="line">
            <a:avLst/>
          </a:prstGeom>
          <a:noFill/>
          <a:ln w="11430">
            <a:solidFill>
              <a:srgbClr val="173242"/>
            </a:solidFill>
            <a:prstDash val="solid"/>
          </a:ln>
        </p:spPr>
      </p:sp>
      <p:sp>
        <p:nvSpPr>
          <p:cNvPr id="12" name="Text 9"/>
          <p:cNvSpPr/>
          <p:nvPr/>
        </p:nvSpPr>
        <p:spPr>
          <a:xfrm>
            <a:off x="868680" y="1207008"/>
            <a:ext cx="1965960" cy="804672"/>
          </a:xfrm>
          <a:prstGeom prst="rect">
            <a:avLst/>
          </a:prstGeom>
          <a:noFill/>
          <a:ln/>
        </p:spPr>
        <p:txBody>
          <a:bodyPr wrap="square" lIns="762" tIns="762" rIns="762" bIns="762" rtlCol="0" anchor="ctr">
            <a:normAutofit/>
          </a:bodyPr>
          <a:lstStyle/>
          <a:p>
            <a:r>
              <a:rPr sz="3100" b="1"/>
              <a:t>SYSTEM</a:t>
            </a:r>
          </a:p>
          <a:p>
            <a:r>
              <a:rPr sz="3100" b="1"/>
              <a:t>FLOW</a:t>
            </a:r>
          </a:p>
        </p:txBody>
      </p:sp>
      <p:sp>
        <p:nvSpPr>
          <p:cNvPr id="13" name="Text 10"/>
          <p:cNvSpPr/>
          <p:nvPr/>
        </p:nvSpPr>
        <p:spPr>
          <a:xfrm>
            <a:off x="3200400" y="1234440"/>
            <a:ext cx="8001000" cy="804672"/>
          </a:xfrm>
          <a:prstGeom prst="rect">
            <a:avLst/>
          </a:prstGeom>
          <a:solidFill>
            <a:srgbClr val="EEF4DD"/>
          </a:solidFill>
          <a:ln w="12700">
            <a:solidFill>
              <a:srgbClr val="173242"/>
            </a:solidFill>
          </a:ln>
        </p:spPr>
        <p:txBody>
          <a:bodyPr wrap="square" lIns="762" tIns="762" rIns="762" bIns="762" rtlCol="0" anchor="ctr">
            <a:normAutofit/>
          </a:bodyPr>
          <a:lstStyle/>
          <a:p>
            <a:r>
              <a:rPr sz="1600"/>
              <a:t>The Android (Kotlin) client sends REST/JSON requests. Spring Boot controllers and services apply validation and feature rules; repositories persist records to MySQL.</a:t>
            </a:r>
          </a:p>
        </p:txBody>
      </p:sp>
      <p:sp>
        <p:nvSpPr>
          <p:cNvPr id="14" name="Text 11"/>
          <p:cNvSpPr/>
          <p:nvPr/>
        </p:nvSpPr>
        <p:spPr>
          <a:xfrm>
            <a:off x="804672" y="2395728"/>
            <a:ext cx="1207008" cy="457200"/>
          </a:xfrm>
          <a:prstGeom prst="rect">
            <a:avLst/>
          </a:prstGeom>
          <a:solidFill>
            <a:srgbClr val="176563"/>
          </a:solidFill>
          <a:ln w="12700">
            <a:solidFill>
              <a:srgbClr val="176563"/>
            </a:solidFill>
          </a:ln>
        </p:spPr>
        <p:txBody>
          <a:bodyPr wrap="square" lIns="762" tIns="762" rIns="762" bIns="762" rtlCol="0" anchor="ctr">
            <a:normAutofit/>
          </a:bodyPr>
          <a:lstStyle/>
          <a:p>
            <a:r>
              <a:rPr sz="1000" b="1"/>
              <a:t>FITNESS SOURCE</a:t>
            </a:r>
          </a:p>
        </p:txBody>
      </p:sp>
      <p:sp>
        <p:nvSpPr>
          <p:cNvPr id="15" name="Text 12"/>
          <p:cNvSpPr/>
          <p:nvPr/>
        </p:nvSpPr>
        <p:spPr>
          <a:xfrm>
            <a:off x="2112264" y="2468880"/>
            <a:ext cx="228600" cy="228600"/>
          </a:xfrm>
          <a:prstGeom prst="rect">
            <a:avLst/>
          </a:prstGeom>
          <a:noFill/>
          <a:ln/>
        </p:spPr>
        <p:txBody>
          <a:bodyPr wrap="square" lIns="762" tIns="762" rIns="762" bIns="762" rtlCol="0" anchor="ctr">
            <a:normAutofit/>
          </a:bodyPr>
          <a:lstStyle/>
          <a:p>
            <a:pPr algn="ctr" indent="0" marL="0">
              <a:buNone/>
            </a:pPr>
            <a:r>
              <a:rPr lang="en-US" sz="1800" b="1" dirty="0">
                <a:solidFill>
                  <a:srgbClr val="173242"/>
                </a:solidFill>
                <a:latin typeface="Lato" pitchFamily="34" charset="0"/>
                <a:ea typeface="Lato" pitchFamily="34" charset="-122"/>
                <a:cs typeface="Lato" pitchFamily="34" charset="-120"/>
              </a:rPr>
              <a:t>→</a:t>
            </a:r>
            <a:endParaRPr lang="en-US" sz="1800" dirty="0"/>
          </a:p>
        </p:txBody>
      </p:sp>
      <p:sp>
        <p:nvSpPr>
          <p:cNvPr id="16" name="Text 13"/>
          <p:cNvSpPr/>
          <p:nvPr/>
        </p:nvSpPr>
        <p:spPr>
          <a:xfrm>
            <a:off x="2560320" y="2395728"/>
            <a:ext cx="1207008" cy="457200"/>
          </a:xfrm>
          <a:prstGeom prst="rect">
            <a:avLst/>
          </a:prstGeom>
          <a:solidFill>
            <a:srgbClr val="9F303A"/>
          </a:solidFill>
          <a:ln w="12700">
            <a:solidFill>
              <a:srgbClr val="9F303A"/>
            </a:solidFill>
          </a:ln>
        </p:spPr>
        <p:txBody>
          <a:bodyPr wrap="square" lIns="762" tIns="762" rIns="762" bIns="762" rtlCol="0" anchor="ctr">
            <a:normAutofit/>
          </a:bodyPr>
          <a:lstStyle/>
          <a:p>
            <a:r>
              <a:rPr sz="1000" b="1"/>
              <a:t>ANDROID</a:t>
            </a:r>
          </a:p>
        </p:txBody>
      </p:sp>
      <p:sp>
        <p:nvSpPr>
          <p:cNvPr id="17" name="Text 14"/>
          <p:cNvSpPr/>
          <p:nvPr/>
        </p:nvSpPr>
        <p:spPr>
          <a:xfrm>
            <a:off x="3867912" y="2468880"/>
            <a:ext cx="228600" cy="228600"/>
          </a:xfrm>
          <a:prstGeom prst="rect">
            <a:avLst/>
          </a:prstGeom>
          <a:noFill/>
          <a:ln/>
        </p:spPr>
        <p:txBody>
          <a:bodyPr wrap="square" lIns="762" tIns="762" rIns="762" bIns="762" rtlCol="0" anchor="ctr">
            <a:normAutofit/>
          </a:bodyPr>
          <a:lstStyle/>
          <a:p>
            <a:pPr algn="ctr" indent="0" marL="0">
              <a:buNone/>
            </a:pPr>
            <a:r>
              <a:rPr lang="en-US" sz="1800" b="1" dirty="0">
                <a:solidFill>
                  <a:srgbClr val="173242"/>
                </a:solidFill>
                <a:latin typeface="Lato" pitchFamily="34" charset="0"/>
                <a:ea typeface="Lato" pitchFamily="34" charset="-122"/>
                <a:cs typeface="Lato" pitchFamily="34" charset="-120"/>
              </a:rPr>
              <a:t>→</a:t>
            </a:r>
            <a:endParaRPr lang="en-US" sz="1800" dirty="0"/>
          </a:p>
        </p:txBody>
      </p:sp>
      <p:sp>
        <p:nvSpPr>
          <p:cNvPr id="18" name="Text 15"/>
          <p:cNvSpPr/>
          <p:nvPr/>
        </p:nvSpPr>
        <p:spPr>
          <a:xfrm>
            <a:off x="4315968" y="2395728"/>
            <a:ext cx="1207008" cy="457200"/>
          </a:xfrm>
          <a:prstGeom prst="rect">
            <a:avLst/>
          </a:prstGeom>
          <a:solidFill>
            <a:srgbClr val="176563"/>
          </a:solidFill>
          <a:ln w="12700">
            <a:solidFill>
              <a:srgbClr val="176563"/>
            </a:solidFill>
          </a:ln>
        </p:spPr>
        <p:txBody>
          <a:bodyPr wrap="square" lIns="762" tIns="762" rIns="762" bIns="762" rtlCol="0" anchor="ctr">
            <a:normAutofit/>
          </a:bodyPr>
          <a:lstStyle/>
          <a:p>
            <a:r>
              <a:rPr sz="1000" b="1"/>
              <a:t>REST API</a:t>
            </a:r>
          </a:p>
        </p:txBody>
      </p:sp>
      <p:sp>
        <p:nvSpPr>
          <p:cNvPr id="19" name="Text 16"/>
          <p:cNvSpPr/>
          <p:nvPr/>
        </p:nvSpPr>
        <p:spPr>
          <a:xfrm>
            <a:off x="5623560" y="2468880"/>
            <a:ext cx="228600" cy="228600"/>
          </a:xfrm>
          <a:prstGeom prst="rect">
            <a:avLst/>
          </a:prstGeom>
          <a:noFill/>
          <a:ln/>
        </p:spPr>
        <p:txBody>
          <a:bodyPr wrap="square" lIns="762" tIns="762" rIns="762" bIns="762" rtlCol="0" anchor="ctr">
            <a:normAutofit/>
          </a:bodyPr>
          <a:lstStyle/>
          <a:p>
            <a:pPr algn="ctr" indent="0" marL="0">
              <a:buNone/>
            </a:pPr>
            <a:r>
              <a:rPr lang="en-US" sz="1800" b="1" dirty="0">
                <a:solidFill>
                  <a:srgbClr val="173242"/>
                </a:solidFill>
                <a:latin typeface="Lato" pitchFamily="34" charset="0"/>
                <a:ea typeface="Lato" pitchFamily="34" charset="-122"/>
                <a:cs typeface="Lato" pitchFamily="34" charset="-120"/>
              </a:rPr>
              <a:t>→</a:t>
            </a:r>
            <a:endParaRPr lang="en-US" sz="1800" dirty="0"/>
          </a:p>
        </p:txBody>
      </p:sp>
      <p:sp>
        <p:nvSpPr>
          <p:cNvPr id="20" name="Text 17"/>
          <p:cNvSpPr/>
          <p:nvPr/>
        </p:nvSpPr>
        <p:spPr>
          <a:xfrm>
            <a:off x="6071616" y="2395728"/>
            <a:ext cx="1207008" cy="457200"/>
          </a:xfrm>
          <a:prstGeom prst="rect">
            <a:avLst/>
          </a:prstGeom>
          <a:solidFill>
            <a:srgbClr val="9F303A"/>
          </a:solidFill>
          <a:ln w="12700">
            <a:solidFill>
              <a:srgbClr val="9F303A"/>
            </a:solidFill>
          </a:ln>
        </p:spPr>
        <p:txBody>
          <a:bodyPr wrap="square" lIns="762" tIns="762" rIns="762" bIns="762" rtlCol="0" anchor="ctr">
            <a:normAutofit/>
          </a:bodyPr>
          <a:lstStyle/>
          <a:p>
            <a:r>
              <a:rPr sz="1000" b="1"/>
              <a:t>SPRING BOOT</a:t>
            </a:r>
          </a:p>
        </p:txBody>
      </p:sp>
      <p:sp>
        <p:nvSpPr>
          <p:cNvPr id="21" name="Text 18"/>
          <p:cNvSpPr/>
          <p:nvPr/>
        </p:nvSpPr>
        <p:spPr>
          <a:xfrm>
            <a:off x="7379208" y="2468880"/>
            <a:ext cx="228600" cy="228600"/>
          </a:xfrm>
          <a:prstGeom prst="rect">
            <a:avLst/>
          </a:prstGeom>
          <a:noFill/>
          <a:ln/>
        </p:spPr>
        <p:txBody>
          <a:bodyPr wrap="square" lIns="762" tIns="762" rIns="762" bIns="762" rtlCol="0" anchor="ctr">
            <a:normAutofit/>
          </a:bodyPr>
          <a:lstStyle/>
          <a:p>
            <a:pPr algn="ctr" indent="0" marL="0">
              <a:buNone/>
            </a:pPr>
            <a:r>
              <a:rPr lang="en-US" sz="1800" b="1" dirty="0">
                <a:solidFill>
                  <a:srgbClr val="173242"/>
                </a:solidFill>
                <a:latin typeface="Lato" pitchFamily="34" charset="0"/>
                <a:ea typeface="Lato" pitchFamily="34" charset="-122"/>
                <a:cs typeface="Lato" pitchFamily="34" charset="-120"/>
              </a:rPr>
              <a:t>→</a:t>
            </a:r>
            <a:endParaRPr lang="en-US" sz="1800" dirty="0"/>
          </a:p>
        </p:txBody>
      </p:sp>
      <p:sp>
        <p:nvSpPr>
          <p:cNvPr id="22" name="Text 19"/>
          <p:cNvSpPr/>
          <p:nvPr/>
        </p:nvSpPr>
        <p:spPr>
          <a:xfrm>
            <a:off x="7827264" y="2395728"/>
            <a:ext cx="1207008" cy="457200"/>
          </a:xfrm>
          <a:prstGeom prst="rect">
            <a:avLst/>
          </a:prstGeom>
          <a:solidFill>
            <a:srgbClr val="176563"/>
          </a:solidFill>
          <a:ln w="12700">
            <a:solidFill>
              <a:srgbClr val="176563"/>
            </a:solidFill>
          </a:ln>
        </p:spPr>
        <p:txBody>
          <a:bodyPr wrap="square" lIns="762" tIns="762" rIns="762" bIns="762" rtlCol="0" anchor="ctr">
            <a:normAutofit/>
          </a:bodyPr>
          <a:lstStyle/>
          <a:p>
            <a:r>
              <a:rPr sz="1000" b="1"/>
              <a:t>MYSQL</a:t>
            </a:r>
          </a:p>
        </p:txBody>
      </p:sp>
      <p:sp>
        <p:nvSpPr>
          <p:cNvPr id="23" name="Text 20"/>
          <p:cNvSpPr/>
          <p:nvPr/>
        </p:nvSpPr>
        <p:spPr>
          <a:xfrm>
            <a:off x="9134856" y="2468880"/>
            <a:ext cx="228600" cy="228600"/>
          </a:xfrm>
          <a:prstGeom prst="rect">
            <a:avLst/>
          </a:prstGeom>
          <a:noFill/>
          <a:ln/>
        </p:spPr>
        <p:txBody>
          <a:bodyPr wrap="square" lIns="762" tIns="762" rIns="762" bIns="762" rtlCol="0" anchor="ctr">
            <a:normAutofit/>
          </a:bodyPr>
          <a:lstStyle/>
          <a:p>
            <a:pPr algn="ctr" indent="0" marL="0">
              <a:buNone/>
            </a:pPr>
            <a:r>
              <a:rPr lang="en-US" sz="1800" b="1" dirty="0">
                <a:solidFill>
                  <a:srgbClr val="173242"/>
                </a:solidFill>
                <a:latin typeface="Lato" pitchFamily="34" charset="0"/>
                <a:ea typeface="Lato" pitchFamily="34" charset="-122"/>
                <a:cs typeface="Lato" pitchFamily="34" charset="-120"/>
              </a:rPr>
              <a:t>→</a:t>
            </a:r>
            <a:endParaRPr lang="en-US" sz="1800" dirty="0"/>
          </a:p>
        </p:txBody>
      </p:sp>
      <p:sp>
        <p:nvSpPr>
          <p:cNvPr id="24" name="Text 21"/>
          <p:cNvSpPr/>
          <p:nvPr/>
        </p:nvSpPr>
        <p:spPr>
          <a:xfrm>
            <a:off x="9582912" y="2395728"/>
            <a:ext cx="1207008" cy="457200"/>
          </a:xfrm>
          <a:prstGeom prst="rect">
            <a:avLst/>
          </a:prstGeom>
          <a:solidFill>
            <a:srgbClr val="9F303A"/>
          </a:solidFill>
          <a:ln w="12700">
            <a:solidFill>
              <a:srgbClr val="9F303A"/>
            </a:solidFill>
          </a:ln>
        </p:spPr>
        <p:txBody>
          <a:bodyPr wrap="square" lIns="762" tIns="762" rIns="762" bIns="762" rtlCol="0" anchor="ctr">
            <a:normAutofit/>
          </a:bodyPr>
          <a:lstStyle/>
          <a:p>
            <a:r>
              <a:rPr sz="1000" b="1"/>
              <a:t>INSIGHTS</a:t>
            </a:r>
          </a:p>
        </p:txBody>
      </p:sp>
      <p:sp>
        <p:nvSpPr>
          <p:cNvPr id="25" name="Text 22"/>
          <p:cNvSpPr/>
          <p:nvPr/>
        </p:nvSpPr>
        <p:spPr>
          <a:xfrm>
            <a:off x="749808" y="3337560"/>
            <a:ext cx="2331720" cy="457200"/>
          </a:xfrm>
          <a:prstGeom prst="rect">
            <a:avLst/>
          </a:prstGeom>
          <a:solidFill>
            <a:srgbClr val="173242"/>
          </a:solidFill>
          <a:ln w="12700">
            <a:solidFill>
              <a:srgbClr val="879587"/>
            </a:solidFill>
          </a:ln>
        </p:spPr>
        <p:txBody>
          <a:bodyPr wrap="square" lIns="762" tIns="762" rIns="762" bIns="762" rtlCol="0" anchor="ctr">
            <a:normAutofit/>
          </a:bodyPr>
          <a:lstStyle/>
          <a:p>
            <a:r>
              <a:rPr sz="1500" b="1"/>
              <a:t>MODULE</a:t>
            </a:r>
          </a:p>
        </p:txBody>
      </p:sp>
      <p:sp>
        <p:nvSpPr>
          <p:cNvPr id="26" name="Text 23"/>
          <p:cNvSpPr/>
          <p:nvPr/>
        </p:nvSpPr>
        <p:spPr>
          <a:xfrm>
            <a:off x="3081528" y="3337560"/>
            <a:ext cx="4005072" cy="457200"/>
          </a:xfrm>
          <a:prstGeom prst="rect">
            <a:avLst/>
          </a:prstGeom>
          <a:solidFill>
            <a:srgbClr val="173242"/>
          </a:solidFill>
          <a:ln w="12700">
            <a:solidFill>
              <a:srgbClr val="879587"/>
            </a:solidFill>
          </a:ln>
        </p:spPr>
        <p:txBody>
          <a:bodyPr wrap="square" lIns="762" tIns="762" rIns="762" bIns="762" rtlCol="0" anchor="ctr">
            <a:normAutofit/>
          </a:bodyPr>
          <a:lstStyle/>
          <a:p>
            <a:r>
              <a:rPr sz="1500" b="1"/>
              <a:t>DATA / CONCEPT</a:t>
            </a:r>
          </a:p>
        </p:txBody>
      </p:sp>
      <p:sp>
        <p:nvSpPr>
          <p:cNvPr id="27" name="Text 24"/>
          <p:cNvSpPr/>
          <p:nvPr/>
        </p:nvSpPr>
        <p:spPr>
          <a:xfrm>
            <a:off x="7086600" y="3337560"/>
            <a:ext cx="4709160" cy="457200"/>
          </a:xfrm>
          <a:prstGeom prst="rect">
            <a:avLst/>
          </a:prstGeom>
          <a:solidFill>
            <a:srgbClr val="173242"/>
          </a:solidFill>
          <a:ln w="12700">
            <a:solidFill>
              <a:srgbClr val="879587"/>
            </a:solidFill>
          </a:ln>
        </p:spPr>
        <p:txBody>
          <a:bodyPr wrap="square" lIns="762" tIns="762" rIns="762" bIns="762" rtlCol="0" anchor="ctr">
            <a:normAutofit/>
          </a:bodyPr>
          <a:lstStyle/>
          <a:p>
            <a:r>
              <a:rPr sz="1500" b="1"/>
              <a:t>PURPOSE</a:t>
            </a:r>
          </a:p>
        </p:txBody>
      </p:sp>
      <p:sp>
        <p:nvSpPr>
          <p:cNvPr id="28" name="Text 25"/>
          <p:cNvSpPr/>
          <p:nvPr/>
        </p:nvSpPr>
        <p:spPr>
          <a:xfrm>
            <a:off x="749808" y="3840480"/>
            <a:ext cx="2331720" cy="612648"/>
          </a:xfrm>
          <a:prstGeom prst="rect">
            <a:avLst/>
          </a:prstGeom>
          <a:solidFill>
            <a:srgbClr val="FAFCF0"/>
          </a:solidFill>
          <a:ln w="12700">
            <a:solidFill>
              <a:srgbClr val="879587"/>
            </a:solidFill>
          </a:ln>
        </p:spPr>
        <p:txBody>
          <a:bodyPr wrap="square" lIns="762" tIns="762" rIns="762" bIns="762" rtlCol="0" anchor="ctr">
            <a:normAutofit/>
          </a:bodyPr>
          <a:lstStyle/>
          <a:p>
            <a:r>
              <a:rPr sz="1200"/>
              <a:t>Steps &amp; goals</a:t>
            </a:r>
          </a:p>
        </p:txBody>
      </p:sp>
      <p:sp>
        <p:nvSpPr>
          <p:cNvPr id="29" name="Text 26"/>
          <p:cNvSpPr/>
          <p:nvPr/>
        </p:nvSpPr>
        <p:spPr>
          <a:xfrm>
            <a:off x="3081528" y="3840480"/>
            <a:ext cx="4005072" cy="612648"/>
          </a:xfrm>
          <a:prstGeom prst="rect">
            <a:avLst/>
          </a:prstGeom>
          <a:solidFill>
            <a:srgbClr val="FAFCF0"/>
          </a:solidFill>
          <a:ln w="12700">
            <a:solidFill>
              <a:srgbClr val="879587"/>
            </a:solidFill>
          </a:ln>
        </p:spPr>
        <p:txBody>
          <a:bodyPr wrap="square" lIns="762" tIns="762" rIns="762" bIns="762" rtlCol="0" anchor="ctr">
            <a:normAutofit/>
          </a:bodyPr>
          <a:lstStyle/>
          <a:p>
            <a:r>
              <a:rPr sz="1200"/>
              <a:t>Step records; daily, weekly and monthly totals</a:t>
            </a:r>
          </a:p>
        </p:txBody>
      </p:sp>
      <p:sp>
        <p:nvSpPr>
          <p:cNvPr id="30" name="Text 27"/>
          <p:cNvSpPr/>
          <p:nvPr/>
        </p:nvSpPr>
        <p:spPr>
          <a:xfrm>
            <a:off x="7086600" y="3840480"/>
            <a:ext cx="4709160" cy="612648"/>
          </a:xfrm>
          <a:prstGeom prst="rect">
            <a:avLst/>
          </a:prstGeom>
          <a:solidFill>
            <a:srgbClr val="FAFCF0"/>
          </a:solidFill>
          <a:ln w="12700">
            <a:solidFill>
              <a:srgbClr val="879587"/>
            </a:solidFill>
          </a:ln>
        </p:spPr>
        <p:txBody>
          <a:bodyPr wrap="square" lIns="762" tIns="762" rIns="762" bIns="762" rtlCol="0" anchor="ctr">
            <a:normAutofit/>
          </a:bodyPr>
          <a:lstStyle/>
          <a:p>
            <a:r>
              <a:rPr sz="1200"/>
              <a:t>Track activity and goal progress.</a:t>
            </a:r>
          </a:p>
        </p:txBody>
      </p:sp>
      <p:sp>
        <p:nvSpPr>
          <p:cNvPr id="31" name="Text 28"/>
          <p:cNvSpPr/>
          <p:nvPr/>
        </p:nvSpPr>
        <p:spPr>
          <a:xfrm>
            <a:off x="749808" y="4462272"/>
            <a:ext cx="2331720" cy="612648"/>
          </a:xfrm>
          <a:prstGeom prst="rect">
            <a:avLst/>
          </a:prstGeom>
          <a:solidFill>
            <a:srgbClr val="E8F0D6"/>
          </a:solidFill>
          <a:ln w="12700">
            <a:solidFill>
              <a:srgbClr val="879587"/>
            </a:solidFill>
          </a:ln>
        </p:spPr>
        <p:txBody>
          <a:bodyPr wrap="square" lIns="762" tIns="762" rIns="762" bIns="762" rtlCol="0" anchor="ctr">
            <a:normAutofit/>
          </a:bodyPr>
          <a:lstStyle/>
          <a:p>
            <a:r>
              <a:rPr sz="1200"/>
              <a:t>Challenges</a:t>
            </a:r>
          </a:p>
        </p:txBody>
      </p:sp>
      <p:sp>
        <p:nvSpPr>
          <p:cNvPr id="32" name="Text 29"/>
          <p:cNvSpPr/>
          <p:nvPr/>
        </p:nvSpPr>
        <p:spPr>
          <a:xfrm>
            <a:off x="3081528" y="4462272"/>
            <a:ext cx="4005072" cy="612648"/>
          </a:xfrm>
          <a:prstGeom prst="rect">
            <a:avLst/>
          </a:prstGeom>
          <a:solidFill>
            <a:srgbClr val="E8F0D6"/>
          </a:solidFill>
          <a:ln w="12700">
            <a:solidFill>
              <a:srgbClr val="879587"/>
            </a:solidFill>
          </a:ln>
        </p:spPr>
        <p:txBody>
          <a:bodyPr wrap="square" lIns="762" tIns="762" rIns="762" bIns="762" rtlCol="0" anchor="ctr">
            <a:normAutofit/>
          </a:bodyPr>
          <a:lstStyle/>
          <a:p>
            <a:r>
              <a:rPr sz="1200"/>
              <a:t>Challenges, membership and leaderboard</a:t>
            </a:r>
          </a:p>
        </p:txBody>
      </p:sp>
      <p:sp>
        <p:nvSpPr>
          <p:cNvPr id="33" name="Text 30"/>
          <p:cNvSpPr/>
          <p:nvPr/>
        </p:nvSpPr>
        <p:spPr>
          <a:xfrm>
            <a:off x="7086600" y="4462272"/>
            <a:ext cx="4709160" cy="612648"/>
          </a:xfrm>
          <a:prstGeom prst="rect">
            <a:avLst/>
          </a:prstGeom>
          <a:solidFill>
            <a:srgbClr val="E8F0D6"/>
          </a:solidFill>
          <a:ln w="12700">
            <a:solidFill>
              <a:srgbClr val="879587"/>
            </a:solidFill>
          </a:ln>
        </p:spPr>
        <p:txBody>
          <a:bodyPr wrap="square" lIns="762" tIns="762" rIns="762" bIns="762" rtlCol="0" anchor="ctr">
            <a:normAutofit/>
          </a:bodyPr>
          <a:lstStyle/>
          <a:p>
            <a:r>
              <a:rPr sz="1200"/>
              <a:t>Join targets and compare step totals.</a:t>
            </a:r>
          </a:p>
        </p:txBody>
      </p:sp>
      <p:sp>
        <p:nvSpPr>
          <p:cNvPr id="34" name="Text 31"/>
          <p:cNvSpPr/>
          <p:nvPr/>
        </p:nvSpPr>
        <p:spPr>
          <a:xfrm>
            <a:off x="749808" y="5084064"/>
            <a:ext cx="2331720" cy="612648"/>
          </a:xfrm>
          <a:prstGeom prst="rect">
            <a:avLst/>
          </a:prstGeom>
          <a:solidFill>
            <a:srgbClr val="FAFCF0"/>
          </a:solidFill>
          <a:ln w="12700">
            <a:solidFill>
              <a:srgbClr val="879587"/>
            </a:solidFill>
          </a:ln>
        </p:spPr>
        <p:txBody>
          <a:bodyPr wrap="square" lIns="762" tIns="762" rIns="762" bIns="762" rtlCol="0" anchor="ctr">
            <a:normAutofit/>
          </a:bodyPr>
          <a:lstStyle/>
          <a:p>
            <a:r>
              <a:rPr sz="1200"/>
              <a:t>Social &amp; rewards</a:t>
            </a:r>
          </a:p>
        </p:txBody>
      </p:sp>
      <p:sp>
        <p:nvSpPr>
          <p:cNvPr id="35" name="Text 32"/>
          <p:cNvSpPr/>
          <p:nvPr/>
        </p:nvSpPr>
        <p:spPr>
          <a:xfrm>
            <a:off x="3081528" y="5084064"/>
            <a:ext cx="4005072" cy="612648"/>
          </a:xfrm>
          <a:prstGeom prst="rect">
            <a:avLst/>
          </a:prstGeom>
          <a:solidFill>
            <a:srgbClr val="FAFCF0"/>
          </a:solidFill>
          <a:ln w="12700">
            <a:solidFill>
              <a:srgbClr val="879587"/>
            </a:solidFill>
          </a:ln>
        </p:spPr>
        <p:txBody>
          <a:bodyPr wrap="square" lIns="762" tIns="762" rIns="762" bIns="762" rtlCol="0" anchor="ctr">
            <a:normAutofit/>
          </a:bodyPr>
          <a:lstStyle/>
          <a:p>
            <a:r>
              <a:rPr sz="1200"/>
              <a:t>Friends, points, streaks, badges and coins</a:t>
            </a:r>
          </a:p>
        </p:txBody>
      </p:sp>
      <p:sp>
        <p:nvSpPr>
          <p:cNvPr id="36" name="Text 33"/>
          <p:cNvSpPr/>
          <p:nvPr/>
        </p:nvSpPr>
        <p:spPr>
          <a:xfrm>
            <a:off x="7086600" y="5084064"/>
            <a:ext cx="4709160" cy="612648"/>
          </a:xfrm>
          <a:prstGeom prst="rect">
            <a:avLst/>
          </a:prstGeom>
          <a:solidFill>
            <a:srgbClr val="FAFCF0"/>
          </a:solidFill>
          <a:ln w="12700">
            <a:solidFill>
              <a:srgbClr val="879587"/>
            </a:solidFill>
          </a:ln>
        </p:spPr>
        <p:txBody>
          <a:bodyPr wrap="square" lIns="762" tIns="762" rIns="762" bIns="762" rtlCol="0" anchor="ctr">
            <a:normAutofit/>
          </a:bodyPr>
          <a:lstStyle/>
          <a:p>
            <a:r>
              <a:rPr sz="1200"/>
              <a:t>Support consistency and reward activity.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ED"/>
        </a:solidFill>
      </p:bgPr>
    </p:bg>
    <p:spTree>
      <p:nvGrpSpPr>
        <p:cNvPr id="1" name=""/>
        <p:cNvGrpSpPr/>
        <p:nvPr/>
      </p:nvGrpSpPr>
      <p:grpSpPr>
        <a:xfrm>
          <a:off x="0" y="0"/>
          <a:ext cx="0" cy="0"/>
          <a:chOff x="0" y="0"/>
          <a:chExt cx="0" cy="0"/>
        </a:xfrm>
      </p:grpSpPr>
      <p:sp>
        <p:nvSpPr>
          <p:cNvPr id="2" name="Shape 0"/>
          <p:cNvSpPr/>
          <p:nvPr/>
        </p:nvSpPr>
        <p:spPr>
          <a:xfrm>
            <a:off x="384048" y="91440"/>
            <a:ext cx="11430000" cy="6583680"/>
          </a:xfrm>
          <a:prstGeom prst="rect">
            <a:avLst/>
          </a:prstGeom>
          <a:solidFill>
            <a:srgbClr val="F7FAED">
              <a:alpha val="0"/>
            </a:srgbClr>
          </a:solidFill>
          <a:ln w="12700">
            <a:solidFill>
              <a:srgbClr val="CBD6BB"/>
            </a:solidFill>
            <a:prstDash val="solid"/>
          </a:ln>
        </p:spPr>
      </p:sp>
      <p:pic>
        <p:nvPicPr>
          <p:cNvPr id="3" name="Image 0" descr="/mnt/data/mlppt_unzip/ppt/media/image1.png">    </p:cNvPr>
          <p:cNvPicPr>
            <a:picLocks noChangeAspect="1"/>
          </p:cNvPicPr>
          <p:nvPr/>
        </p:nvPicPr>
        <p:blipFill>
          <a:blip r:embed="rId1"/>
          <a:stretch>
            <a:fillRect/>
          </a:stretch>
        </p:blipFill>
        <p:spPr>
          <a:xfrm>
            <a:off x="658368" y="173736"/>
            <a:ext cx="1243584" cy="457200"/>
          </a:xfrm>
          <a:prstGeom prst="rect">
            <a:avLst/>
          </a:prstGeom>
        </p:spPr>
      </p:pic>
      <p:sp>
        <p:nvSpPr>
          <p:cNvPr id="4" name="Text 1"/>
          <p:cNvSpPr/>
          <p:nvPr/>
        </p:nvSpPr>
        <p:spPr>
          <a:xfrm>
            <a:off x="2039112" y="164592"/>
            <a:ext cx="6858000" cy="438912"/>
          </a:xfrm>
          <a:prstGeom prst="rect">
            <a:avLst/>
          </a:prstGeom>
          <a:noFill/>
          <a:ln/>
        </p:spPr>
        <p:txBody>
          <a:bodyPr wrap="square" lIns="762" tIns="762" rIns="762" bIns="762" rtlCol="0" anchor="ctr">
            <a:normAutofit/>
          </a:bodyPr>
          <a:lstStyle/>
          <a:p>
            <a:pPr algn="l" indent="0" marL="0">
              <a:buNone/>
            </a:pPr>
            <a:r>
              <a:rPr lang="en-US" sz="2300" b="1" dirty="0">
                <a:solidFill>
                  <a:srgbClr val="173242"/>
                </a:solidFill>
                <a:latin typeface="Lato" pitchFamily="34" charset="0"/>
                <a:ea typeface="Lato" pitchFamily="34" charset="-122"/>
                <a:cs typeface="Lato" pitchFamily="34" charset="-120"/>
              </a:rPr>
              <a:t>FITNESS CHALLENGE APP</a:t>
            </a:r>
            <a:endParaRPr lang="en-US" sz="2300" dirty="0"/>
          </a:p>
        </p:txBody>
      </p:sp>
      <p:sp>
        <p:nvSpPr>
          <p:cNvPr id="5" name="Shape 2"/>
          <p:cNvSpPr/>
          <p:nvPr/>
        </p:nvSpPr>
        <p:spPr>
          <a:xfrm>
            <a:off x="384048" y="758952"/>
            <a:ext cx="11430000" cy="0"/>
          </a:xfrm>
          <a:prstGeom prst="line">
            <a:avLst/>
          </a:prstGeom>
          <a:noFill/>
          <a:ln w="11430">
            <a:solidFill>
              <a:srgbClr val="173242"/>
            </a:solidFill>
            <a:prstDash val="solid"/>
          </a:ln>
        </p:spPr>
      </p:sp>
      <p:sp>
        <p:nvSpPr>
          <p:cNvPr id="6" name="Text 3"/>
          <p:cNvSpPr/>
          <p:nvPr/>
        </p:nvSpPr>
        <p:spPr>
          <a:xfrm>
            <a:off x="9189720" y="859536"/>
            <a:ext cx="2176272" cy="164592"/>
          </a:xfrm>
          <a:prstGeom prst="rect">
            <a:avLst/>
          </a:prstGeom>
          <a:noFill/>
          <a:ln/>
        </p:spPr>
        <p:txBody>
          <a:bodyPr wrap="square" lIns="762" tIns="762" rIns="762" bIns="762" rtlCol="0" anchor="ctr">
            <a:normAutofit/>
          </a:bodyPr>
          <a:lstStyle/>
          <a:p>
            <a:pPr algn="r" indent="0" marL="0">
              <a:buNone/>
            </a:pPr>
            <a:r>
              <a:rPr lang="en-US" sz="780" dirty="0">
                <a:solidFill>
                  <a:srgbClr val="173242"/>
                </a:solidFill>
                <a:latin typeface="Lato" pitchFamily="34" charset="0"/>
                <a:ea typeface="Lato" pitchFamily="34" charset="-122"/>
                <a:cs typeface="Lato" pitchFamily="34" charset="-120"/>
              </a:rPr>
              <a:t>FINAL PRESENTATION | CSE | SECTION 04 | TEAM 10</a:t>
            </a:r>
            <a:endParaRPr lang="en-US" sz="780" dirty="0"/>
          </a:p>
        </p:txBody>
      </p:sp>
      <p:sp>
        <p:nvSpPr>
          <p:cNvPr id="7" name="Shape 4"/>
          <p:cNvSpPr/>
          <p:nvPr/>
        </p:nvSpPr>
        <p:spPr>
          <a:xfrm>
            <a:off x="384048" y="1069848"/>
            <a:ext cx="11430000" cy="0"/>
          </a:xfrm>
          <a:prstGeom prst="line">
            <a:avLst/>
          </a:prstGeom>
          <a:noFill/>
          <a:ln w="11430">
            <a:solidFill>
              <a:srgbClr val="173242"/>
            </a:solidFill>
            <a:prstDash val="solid"/>
          </a:ln>
        </p:spPr>
      </p:sp>
      <p:sp>
        <p:nvSpPr>
          <p:cNvPr id="8" name="Shape 5"/>
          <p:cNvSpPr/>
          <p:nvPr/>
        </p:nvSpPr>
        <p:spPr>
          <a:xfrm>
            <a:off x="384048" y="6053328"/>
            <a:ext cx="11430000" cy="0"/>
          </a:xfrm>
          <a:prstGeom prst="line">
            <a:avLst/>
          </a:prstGeom>
          <a:noFill/>
          <a:ln w="11430">
            <a:solidFill>
              <a:srgbClr val="173242"/>
            </a:solidFill>
            <a:prstDash val="solid"/>
          </a:ln>
        </p:spPr>
      </p:sp>
      <p:sp>
        <p:nvSpPr>
          <p:cNvPr id="9" name="Text 6"/>
          <p:cNvSpPr/>
          <p:nvPr/>
        </p:nvSpPr>
        <p:spPr>
          <a:xfrm>
            <a:off x="713232" y="6172200"/>
            <a:ext cx="8138160" cy="164592"/>
          </a:xfrm>
          <a:prstGeom prst="rect">
            <a:avLst/>
          </a:prstGeom>
          <a:noFill/>
          <a:ln/>
        </p:spPr>
        <p:txBody>
          <a:bodyPr wrap="square" lIns="762" tIns="762" rIns="762" bIns="762" rtlCol="0" anchor="ctr">
            <a:normAutofit/>
          </a:bodyPr>
          <a:lstStyle/>
          <a:p>
            <a:r>
              <a:rPr sz="800"/>
              <a:t>FITNESS CHALLENGE APP WITH STEP GAMIFICATION</a:t>
            </a:r>
          </a:p>
        </p:txBody>
      </p:sp>
      <p:sp>
        <p:nvSpPr>
          <p:cNvPr id="10" name="Text 7"/>
          <p:cNvSpPr/>
          <p:nvPr/>
        </p:nvSpPr>
        <p:spPr>
          <a:xfrm>
            <a:off x="10241280" y="6172200"/>
            <a:ext cx="1143000" cy="164592"/>
          </a:xfrm>
          <a:prstGeom prst="rect">
            <a:avLst/>
          </a:prstGeom>
          <a:noFill/>
          <a:ln/>
        </p:spPr>
        <p:txBody>
          <a:bodyPr wrap="square" lIns="762" tIns="762" rIns="762" bIns="762" rtlCol="0" anchor="ctr">
            <a:normAutofit/>
          </a:bodyPr>
          <a:lstStyle/>
          <a:p>
            <a:pPr algn="r" indent="0" marL="0">
              <a:buNone/>
            </a:pPr>
            <a:r>
              <a:rPr lang="en-US" sz="690" dirty="0">
                <a:solidFill>
                  <a:srgbClr val="173242"/>
                </a:solidFill>
                <a:latin typeface="Lato" pitchFamily="34" charset="0"/>
                <a:ea typeface="Lato" pitchFamily="34" charset="-122"/>
                <a:cs typeface="Lato" pitchFamily="34" charset="-120"/>
              </a:rPr>
              <a:t>A.Y. 2025–26</a:t>
            </a:r>
            <a:endParaRPr lang="en-US" sz="690" dirty="0"/>
          </a:p>
        </p:txBody>
      </p:sp>
      <p:sp>
        <p:nvSpPr>
          <p:cNvPr id="11" name="Shape 8"/>
          <p:cNvSpPr/>
          <p:nvPr/>
        </p:nvSpPr>
        <p:spPr>
          <a:xfrm>
            <a:off x="384048" y="6364224"/>
            <a:ext cx="11430000" cy="0"/>
          </a:xfrm>
          <a:prstGeom prst="line">
            <a:avLst/>
          </a:prstGeom>
          <a:noFill/>
          <a:ln w="11430">
            <a:solidFill>
              <a:srgbClr val="173242"/>
            </a:solidFill>
            <a:prstDash val="solid"/>
          </a:ln>
        </p:spPr>
      </p:sp>
      <p:sp>
        <p:nvSpPr>
          <p:cNvPr id="12" name="Text 9"/>
          <p:cNvSpPr/>
          <p:nvPr/>
        </p:nvSpPr>
        <p:spPr>
          <a:xfrm>
            <a:off x="749808" y="1325880"/>
            <a:ext cx="2944368" cy="512064"/>
          </a:xfrm>
          <a:prstGeom prst="rect">
            <a:avLst/>
          </a:prstGeom>
          <a:solidFill>
            <a:srgbClr val="173242"/>
          </a:solidFill>
          <a:ln w="12700">
            <a:solidFill>
              <a:srgbClr val="879587"/>
            </a:solidFill>
          </a:ln>
        </p:spPr>
        <p:txBody>
          <a:bodyPr wrap="square" lIns="762" tIns="762" rIns="762" bIns="762" rtlCol="0" anchor="ctr">
            <a:normAutofit/>
          </a:bodyPr>
          <a:lstStyle/>
          <a:p>
            <a:r>
              <a:rPr sz="1800" b="1"/>
              <a:t>TECHNOLOGY</a:t>
            </a:r>
          </a:p>
        </p:txBody>
      </p:sp>
      <p:sp>
        <p:nvSpPr>
          <p:cNvPr id="13" name="Text 10"/>
          <p:cNvSpPr/>
          <p:nvPr/>
        </p:nvSpPr>
        <p:spPr>
          <a:xfrm>
            <a:off x="3694176" y="1325880"/>
            <a:ext cx="7607808" cy="512064"/>
          </a:xfrm>
          <a:prstGeom prst="rect">
            <a:avLst/>
          </a:prstGeom>
          <a:solidFill>
            <a:srgbClr val="173242"/>
          </a:solidFill>
          <a:ln w="12700">
            <a:solidFill>
              <a:srgbClr val="879587"/>
            </a:solidFill>
          </a:ln>
        </p:spPr>
        <p:txBody>
          <a:bodyPr wrap="square" lIns="762" tIns="762" rIns="762" bIns="762" rtlCol="0" anchor="ctr">
            <a:normAutofit/>
          </a:bodyPr>
          <a:lstStyle/>
          <a:p>
            <a:r>
              <a:rPr sz="1800" b="1"/>
              <a:t>SPECIFICATION</a:t>
            </a:r>
          </a:p>
        </p:txBody>
      </p:sp>
      <p:sp>
        <p:nvSpPr>
          <p:cNvPr id="14" name="Text 11"/>
          <p:cNvSpPr/>
          <p:nvPr/>
        </p:nvSpPr>
        <p:spPr>
          <a:xfrm>
            <a:off x="749808" y="1837944"/>
            <a:ext cx="2944368" cy="749808"/>
          </a:xfrm>
          <a:prstGeom prst="rect">
            <a:avLst/>
          </a:prstGeom>
          <a:solidFill>
            <a:srgbClr val="FAFCF0"/>
          </a:solidFill>
          <a:ln w="12700">
            <a:solidFill>
              <a:srgbClr val="879587"/>
            </a:solidFill>
          </a:ln>
        </p:spPr>
        <p:txBody>
          <a:bodyPr wrap="square" lIns="762" tIns="762" rIns="762" bIns="762" rtlCol="0" anchor="ctr">
            <a:normAutofit/>
          </a:bodyPr>
          <a:lstStyle/>
          <a:p>
            <a:r>
              <a:rPr sz="1500" b="1"/>
              <a:t>Backend</a:t>
            </a:r>
          </a:p>
        </p:txBody>
      </p:sp>
      <p:sp>
        <p:nvSpPr>
          <p:cNvPr id="15" name="Text 12"/>
          <p:cNvSpPr/>
          <p:nvPr/>
        </p:nvSpPr>
        <p:spPr>
          <a:xfrm>
            <a:off x="3694176" y="1837944"/>
            <a:ext cx="7607808" cy="749808"/>
          </a:xfrm>
          <a:prstGeom prst="rect">
            <a:avLst/>
          </a:prstGeom>
          <a:solidFill>
            <a:srgbClr val="FAFCF0"/>
          </a:solidFill>
          <a:ln w="12700">
            <a:solidFill>
              <a:srgbClr val="879587"/>
            </a:solidFill>
          </a:ln>
        </p:spPr>
        <p:txBody>
          <a:bodyPr wrap="square" lIns="762" tIns="762" rIns="762" bIns="762" rtlCol="0" anchor="ctr">
            <a:normAutofit/>
          </a:bodyPr>
          <a:lstStyle/>
          <a:p>
            <a:r>
              <a:rPr sz="1400"/>
              <a:t>Java, Spring Boot and REST/JSON APIs (specified backend direction).</a:t>
            </a:r>
          </a:p>
        </p:txBody>
      </p:sp>
      <p:sp>
        <p:nvSpPr>
          <p:cNvPr id="16" name="Text 13"/>
          <p:cNvSpPr/>
          <p:nvPr/>
        </p:nvSpPr>
        <p:spPr>
          <a:xfrm>
            <a:off x="749808" y="2587752"/>
            <a:ext cx="2944368" cy="749808"/>
          </a:xfrm>
          <a:prstGeom prst="rect">
            <a:avLst/>
          </a:prstGeom>
          <a:solidFill>
            <a:srgbClr val="E8F0D6"/>
          </a:solidFill>
          <a:ln w="12700">
            <a:solidFill>
              <a:srgbClr val="879587"/>
            </a:solidFill>
          </a:ln>
        </p:spPr>
        <p:txBody>
          <a:bodyPr wrap="square" lIns="762" tIns="762" rIns="762" bIns="762" rtlCol="0" anchor="ctr">
            <a:normAutofit/>
          </a:bodyPr>
          <a:lstStyle/>
          <a:p>
            <a:r>
              <a:rPr sz="1500" b="1"/>
              <a:t>Database</a:t>
            </a:r>
          </a:p>
        </p:txBody>
      </p:sp>
      <p:sp>
        <p:nvSpPr>
          <p:cNvPr id="17" name="Text 14"/>
          <p:cNvSpPr/>
          <p:nvPr/>
        </p:nvSpPr>
        <p:spPr>
          <a:xfrm>
            <a:off x="3694176" y="2587752"/>
            <a:ext cx="7607808" cy="749808"/>
          </a:xfrm>
          <a:prstGeom prst="rect">
            <a:avLst/>
          </a:prstGeom>
          <a:solidFill>
            <a:srgbClr val="E8F0D6"/>
          </a:solidFill>
          <a:ln w="12700">
            <a:solidFill>
              <a:srgbClr val="879587"/>
            </a:solidFill>
          </a:ln>
        </p:spPr>
        <p:txBody>
          <a:bodyPr wrap="square" lIns="762" tIns="762" rIns="762" bIns="762" rtlCol="0" anchor="ctr">
            <a:normAutofit/>
          </a:bodyPr>
          <a:lstStyle/>
          <a:p>
            <a:r>
              <a:rPr sz="1400"/>
              <a:t>MySQL for users, steps, challenges, friends, points and rewards.</a:t>
            </a:r>
          </a:p>
        </p:txBody>
      </p:sp>
      <p:sp>
        <p:nvSpPr>
          <p:cNvPr id="18" name="Text 15"/>
          <p:cNvSpPr/>
          <p:nvPr/>
        </p:nvSpPr>
        <p:spPr>
          <a:xfrm>
            <a:off x="749808" y="3337560"/>
            <a:ext cx="2944368" cy="749808"/>
          </a:xfrm>
          <a:prstGeom prst="rect">
            <a:avLst/>
          </a:prstGeom>
          <a:solidFill>
            <a:srgbClr val="FAFCF0"/>
          </a:solidFill>
          <a:ln w="12700">
            <a:solidFill>
              <a:srgbClr val="879587"/>
            </a:solidFill>
          </a:ln>
        </p:spPr>
        <p:txBody>
          <a:bodyPr wrap="square" lIns="762" tIns="762" rIns="762" bIns="762" rtlCol="0" anchor="ctr">
            <a:normAutofit/>
          </a:bodyPr>
          <a:lstStyle/>
          <a:p>
            <a:r>
              <a:rPr sz="1500" b="1"/>
              <a:t>Android client</a:t>
            </a:r>
          </a:p>
        </p:txBody>
      </p:sp>
      <p:sp>
        <p:nvSpPr>
          <p:cNvPr id="19" name="Text 16"/>
          <p:cNvSpPr/>
          <p:nvPr/>
        </p:nvSpPr>
        <p:spPr>
          <a:xfrm>
            <a:off x="3694176" y="3337560"/>
            <a:ext cx="7607808" cy="749808"/>
          </a:xfrm>
          <a:prstGeom prst="rect">
            <a:avLst/>
          </a:prstGeom>
          <a:solidFill>
            <a:srgbClr val="FAFCF0"/>
          </a:solidFill>
          <a:ln w="12700">
            <a:solidFill>
              <a:srgbClr val="879587"/>
            </a:solidFill>
          </a:ln>
        </p:spPr>
        <p:txBody>
          <a:bodyPr wrap="square" lIns="762" tIns="762" rIns="762" bIns="762" rtlCol="0" anchor="ctr">
            <a:normAutofit/>
          </a:bodyPr>
          <a:lstStyle/>
          <a:p>
            <a:r>
              <a:rPr sz="1400"/>
              <a:t>Android (Kotlin); fitness-source synchronization requires demonstration.</a:t>
            </a:r>
          </a:p>
        </p:txBody>
      </p:sp>
      <p:sp>
        <p:nvSpPr>
          <p:cNvPr id="20" name="Text 17"/>
          <p:cNvSpPr/>
          <p:nvPr/>
        </p:nvSpPr>
        <p:spPr>
          <a:xfrm>
            <a:off x="749808" y="4087368"/>
            <a:ext cx="2944368" cy="749808"/>
          </a:xfrm>
          <a:prstGeom prst="rect">
            <a:avLst/>
          </a:prstGeom>
          <a:solidFill>
            <a:srgbClr val="E8F0D6"/>
          </a:solidFill>
          <a:ln w="12700">
            <a:solidFill>
              <a:srgbClr val="879587"/>
            </a:solidFill>
          </a:ln>
        </p:spPr>
        <p:txBody>
          <a:bodyPr wrap="square" lIns="762" tIns="762" rIns="762" bIns="762" rtlCol="0" anchor="ctr">
            <a:normAutofit/>
          </a:bodyPr>
          <a:lstStyle/>
          <a:p>
            <a:r>
              <a:rPr sz="1500" b="1"/>
              <a:t>API validation</a:t>
            </a:r>
          </a:p>
        </p:txBody>
      </p:sp>
      <p:sp>
        <p:nvSpPr>
          <p:cNvPr id="21" name="Text 18"/>
          <p:cNvSpPr/>
          <p:nvPr/>
        </p:nvSpPr>
        <p:spPr>
          <a:xfrm>
            <a:off x="3694176" y="4087368"/>
            <a:ext cx="7607808" cy="749808"/>
          </a:xfrm>
          <a:prstGeom prst="rect">
            <a:avLst/>
          </a:prstGeom>
          <a:solidFill>
            <a:srgbClr val="E8F0D6"/>
          </a:solidFill>
          <a:ln w="12700">
            <a:solidFill>
              <a:srgbClr val="879587"/>
            </a:solidFill>
          </a:ln>
        </p:spPr>
        <p:txBody>
          <a:bodyPr wrap="square" lIns="762" tIns="762" rIns="762" bIns="762" rtlCol="0" anchor="ctr">
            <a:normAutofit/>
          </a:bodyPr>
          <a:lstStyle/>
          <a:p>
            <a:r>
              <a:rPr sz="1400"/>
              <a:t>Postman cases planned for authentication, ownership, validation and feature routes; results pending.</a:t>
            </a:r>
          </a:p>
        </p:txBody>
      </p:sp>
      <p:sp>
        <p:nvSpPr>
          <p:cNvPr id="22" name="Text 19"/>
          <p:cNvSpPr/>
          <p:nvPr/>
        </p:nvSpPr>
        <p:spPr>
          <a:xfrm>
            <a:off x="749808" y="4837176"/>
            <a:ext cx="2944368" cy="749808"/>
          </a:xfrm>
          <a:prstGeom prst="rect">
            <a:avLst/>
          </a:prstGeom>
          <a:solidFill>
            <a:srgbClr val="FAFCF0"/>
          </a:solidFill>
          <a:ln w="12700">
            <a:solidFill>
              <a:srgbClr val="879587"/>
            </a:solidFill>
          </a:ln>
        </p:spPr>
        <p:txBody>
          <a:bodyPr wrap="square" lIns="762" tIns="762" rIns="762" bIns="762" rtlCol="0" anchor="ctr">
            <a:normAutofit/>
          </a:bodyPr>
          <a:lstStyle/>
          <a:p>
            <a:r>
              <a:rPr sz="1500" b="1"/>
              <a:t>Screenshot evidence</a:t>
            </a:r>
          </a:p>
        </p:txBody>
      </p:sp>
      <p:sp>
        <p:nvSpPr>
          <p:cNvPr id="23" name="Text 20"/>
          <p:cNvSpPr/>
          <p:nvPr/>
        </p:nvSpPr>
        <p:spPr>
          <a:xfrm>
            <a:off x="3694176" y="4837176"/>
            <a:ext cx="7607808" cy="749808"/>
          </a:xfrm>
          <a:prstGeom prst="rect">
            <a:avLst/>
          </a:prstGeom>
          <a:solidFill>
            <a:srgbClr val="FAFCF0"/>
          </a:solidFill>
          <a:ln w="12700">
            <a:solidFill>
              <a:srgbClr val="879587"/>
            </a:solidFill>
          </a:ln>
        </p:spPr>
        <p:txBody>
          <a:bodyPr wrap="square" lIns="762" tIns="762" rIns="762" bIns="762" rtlCol="0" anchor="ctr">
            <a:normAutofit/>
          </a:bodyPr>
          <a:lstStyle/>
          <a:p>
            <a:r>
              <a:rPr sz="1400"/>
              <a:t>Android home/steps/challenge, Postman request/response and MySQL schema/ER captures are placeholders; capture pending.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ED"/>
        </a:solidFill>
      </p:bgPr>
    </p:bg>
    <p:spTree>
      <p:nvGrpSpPr>
        <p:cNvPr id="1" name=""/>
        <p:cNvGrpSpPr/>
        <p:nvPr/>
      </p:nvGrpSpPr>
      <p:grpSpPr>
        <a:xfrm>
          <a:off x="0" y="0"/>
          <a:ext cx="0" cy="0"/>
          <a:chOff x="0" y="0"/>
          <a:chExt cx="0" cy="0"/>
        </a:xfrm>
      </p:grpSpPr>
      <p:sp>
        <p:nvSpPr>
          <p:cNvPr id="2" name="Shape 0"/>
          <p:cNvSpPr/>
          <p:nvPr/>
        </p:nvSpPr>
        <p:spPr>
          <a:xfrm>
            <a:off x="384048" y="91440"/>
            <a:ext cx="11430000" cy="6583680"/>
          </a:xfrm>
          <a:prstGeom prst="rect">
            <a:avLst/>
          </a:prstGeom>
          <a:solidFill>
            <a:srgbClr val="F7FAED">
              <a:alpha val="0"/>
            </a:srgbClr>
          </a:solidFill>
          <a:ln w="12700">
            <a:solidFill>
              <a:srgbClr val="CBD6BB"/>
            </a:solidFill>
            <a:prstDash val="solid"/>
          </a:ln>
        </p:spPr>
      </p:sp>
      <p:pic>
        <p:nvPicPr>
          <p:cNvPr id="3" name="Image 0" descr="/mnt/data/mlppt_unzip/ppt/media/image1.png">    </p:cNvPr>
          <p:cNvPicPr>
            <a:picLocks noChangeAspect="1"/>
          </p:cNvPicPr>
          <p:nvPr/>
        </p:nvPicPr>
        <p:blipFill>
          <a:blip r:embed="rId1"/>
          <a:stretch>
            <a:fillRect/>
          </a:stretch>
        </p:blipFill>
        <p:spPr>
          <a:xfrm>
            <a:off x="658368" y="173736"/>
            <a:ext cx="1243584" cy="457200"/>
          </a:xfrm>
          <a:prstGeom prst="rect">
            <a:avLst/>
          </a:prstGeom>
        </p:spPr>
      </p:pic>
      <p:sp>
        <p:nvSpPr>
          <p:cNvPr id="4" name="Text 1"/>
          <p:cNvSpPr/>
          <p:nvPr/>
        </p:nvSpPr>
        <p:spPr>
          <a:xfrm>
            <a:off x="2039112" y="164592"/>
            <a:ext cx="6858000" cy="438912"/>
          </a:xfrm>
          <a:prstGeom prst="rect">
            <a:avLst/>
          </a:prstGeom>
          <a:noFill/>
          <a:ln/>
        </p:spPr>
        <p:txBody>
          <a:bodyPr wrap="square" lIns="762" tIns="762" rIns="762" bIns="762" rtlCol="0" anchor="ctr">
            <a:normAutofit/>
          </a:bodyPr>
          <a:lstStyle/>
          <a:p>
            <a:pPr algn="l" indent="0" marL="0">
              <a:buNone/>
            </a:pPr>
            <a:r>
              <a:rPr lang="en-US" sz="2300" b="1" dirty="0">
                <a:solidFill>
                  <a:srgbClr val="173242"/>
                </a:solidFill>
                <a:latin typeface="Lato" pitchFamily="34" charset="0"/>
                <a:ea typeface="Lato" pitchFamily="34" charset="-122"/>
                <a:cs typeface="Lato" pitchFamily="34" charset="-120"/>
              </a:rPr>
              <a:t>FITNESS CHALLENGE APP</a:t>
            </a:r>
            <a:endParaRPr lang="en-US" sz="2300" dirty="0"/>
          </a:p>
        </p:txBody>
      </p:sp>
      <p:sp>
        <p:nvSpPr>
          <p:cNvPr id="5" name="Shape 2"/>
          <p:cNvSpPr/>
          <p:nvPr/>
        </p:nvSpPr>
        <p:spPr>
          <a:xfrm>
            <a:off x="384048" y="758952"/>
            <a:ext cx="11430000" cy="0"/>
          </a:xfrm>
          <a:prstGeom prst="line">
            <a:avLst/>
          </a:prstGeom>
          <a:noFill/>
          <a:ln w="11430">
            <a:solidFill>
              <a:srgbClr val="173242"/>
            </a:solidFill>
            <a:prstDash val="solid"/>
          </a:ln>
        </p:spPr>
      </p:sp>
      <p:sp>
        <p:nvSpPr>
          <p:cNvPr id="6" name="Text 3"/>
          <p:cNvSpPr/>
          <p:nvPr/>
        </p:nvSpPr>
        <p:spPr>
          <a:xfrm>
            <a:off x="9189720" y="859536"/>
            <a:ext cx="2176272" cy="164592"/>
          </a:xfrm>
          <a:prstGeom prst="rect">
            <a:avLst/>
          </a:prstGeom>
          <a:noFill/>
          <a:ln/>
        </p:spPr>
        <p:txBody>
          <a:bodyPr wrap="square" lIns="762" tIns="762" rIns="762" bIns="762" rtlCol="0" anchor="ctr">
            <a:normAutofit/>
          </a:bodyPr>
          <a:lstStyle/>
          <a:p>
            <a:pPr algn="r" indent="0" marL="0">
              <a:buNone/>
            </a:pPr>
            <a:r>
              <a:rPr lang="en-US" sz="780" dirty="0">
                <a:solidFill>
                  <a:srgbClr val="173242"/>
                </a:solidFill>
                <a:latin typeface="Lato" pitchFamily="34" charset="0"/>
                <a:ea typeface="Lato" pitchFamily="34" charset="-122"/>
                <a:cs typeface="Lato" pitchFamily="34" charset="-120"/>
              </a:rPr>
              <a:t>FINAL PRESENTATION | CSE | SECTION 04 | TEAM 10</a:t>
            </a:r>
            <a:endParaRPr lang="en-US" sz="780" dirty="0"/>
          </a:p>
        </p:txBody>
      </p:sp>
      <p:sp>
        <p:nvSpPr>
          <p:cNvPr id="7" name="Shape 4"/>
          <p:cNvSpPr/>
          <p:nvPr/>
        </p:nvSpPr>
        <p:spPr>
          <a:xfrm>
            <a:off x="384048" y="1069848"/>
            <a:ext cx="11430000" cy="0"/>
          </a:xfrm>
          <a:prstGeom prst="line">
            <a:avLst/>
          </a:prstGeom>
          <a:noFill/>
          <a:ln w="11430">
            <a:solidFill>
              <a:srgbClr val="173242"/>
            </a:solidFill>
            <a:prstDash val="solid"/>
          </a:ln>
        </p:spPr>
      </p:sp>
      <p:sp>
        <p:nvSpPr>
          <p:cNvPr id="8" name="Shape 5"/>
          <p:cNvSpPr/>
          <p:nvPr/>
        </p:nvSpPr>
        <p:spPr>
          <a:xfrm>
            <a:off x="384048" y="6053328"/>
            <a:ext cx="11430000" cy="0"/>
          </a:xfrm>
          <a:prstGeom prst="line">
            <a:avLst/>
          </a:prstGeom>
          <a:noFill/>
          <a:ln w="11430">
            <a:solidFill>
              <a:srgbClr val="173242"/>
            </a:solidFill>
            <a:prstDash val="solid"/>
          </a:ln>
        </p:spPr>
      </p:sp>
      <p:sp>
        <p:nvSpPr>
          <p:cNvPr id="9" name="Text 6"/>
          <p:cNvSpPr/>
          <p:nvPr/>
        </p:nvSpPr>
        <p:spPr>
          <a:xfrm>
            <a:off x="713232" y="6172200"/>
            <a:ext cx="8138160" cy="164592"/>
          </a:xfrm>
          <a:prstGeom prst="rect">
            <a:avLst/>
          </a:prstGeom>
          <a:noFill/>
          <a:ln/>
        </p:spPr>
        <p:txBody>
          <a:bodyPr wrap="square" lIns="762" tIns="762" rIns="762" bIns="762" rtlCol="0" anchor="ctr">
            <a:normAutofit/>
          </a:bodyPr>
          <a:lstStyle/>
          <a:p>
            <a:r>
              <a:rPr sz="800"/>
              <a:t>FITNESS CHALLENGE APP WITH STEP GAMIFICATION</a:t>
            </a:r>
          </a:p>
        </p:txBody>
      </p:sp>
      <p:sp>
        <p:nvSpPr>
          <p:cNvPr id="10" name="Text 7"/>
          <p:cNvSpPr/>
          <p:nvPr/>
        </p:nvSpPr>
        <p:spPr>
          <a:xfrm>
            <a:off x="10241280" y="6172200"/>
            <a:ext cx="1143000" cy="164592"/>
          </a:xfrm>
          <a:prstGeom prst="rect">
            <a:avLst/>
          </a:prstGeom>
          <a:noFill/>
          <a:ln/>
        </p:spPr>
        <p:txBody>
          <a:bodyPr wrap="square" lIns="762" tIns="762" rIns="762" bIns="762" rtlCol="0" anchor="ctr">
            <a:normAutofit/>
          </a:bodyPr>
          <a:lstStyle/>
          <a:p>
            <a:pPr algn="r" indent="0" marL="0">
              <a:buNone/>
            </a:pPr>
            <a:r>
              <a:rPr lang="en-US" sz="690" dirty="0">
                <a:solidFill>
                  <a:srgbClr val="173242"/>
                </a:solidFill>
                <a:latin typeface="Lato" pitchFamily="34" charset="0"/>
                <a:ea typeface="Lato" pitchFamily="34" charset="-122"/>
                <a:cs typeface="Lato" pitchFamily="34" charset="-120"/>
              </a:rPr>
              <a:t>A.Y. 2025–26</a:t>
            </a:r>
            <a:endParaRPr lang="en-US" sz="690" dirty="0"/>
          </a:p>
        </p:txBody>
      </p:sp>
      <p:sp>
        <p:nvSpPr>
          <p:cNvPr id="11" name="Shape 8"/>
          <p:cNvSpPr/>
          <p:nvPr/>
        </p:nvSpPr>
        <p:spPr>
          <a:xfrm>
            <a:off x="384048" y="6364224"/>
            <a:ext cx="11430000" cy="0"/>
          </a:xfrm>
          <a:prstGeom prst="line">
            <a:avLst/>
          </a:prstGeom>
          <a:noFill/>
          <a:ln w="11430">
            <a:solidFill>
              <a:srgbClr val="173242"/>
            </a:solidFill>
            <a:prstDash val="solid"/>
          </a:ln>
        </p:spPr>
      </p:sp>
      <p:sp>
        <p:nvSpPr>
          <p:cNvPr id="12" name="Text 9"/>
          <p:cNvSpPr/>
          <p:nvPr/>
        </p:nvSpPr>
        <p:spPr>
          <a:xfrm>
            <a:off x="868680" y="1243584"/>
            <a:ext cx="4754880" cy="621792"/>
          </a:xfrm>
          <a:prstGeom prst="rect">
            <a:avLst/>
          </a:prstGeom>
          <a:noFill/>
          <a:ln/>
        </p:spPr>
        <p:txBody>
          <a:bodyPr wrap="square" lIns="762" tIns="762" rIns="762" bIns="762" rtlCol="0" anchor="ctr">
            <a:normAutofit/>
          </a:bodyPr>
          <a:lstStyle/>
          <a:p>
            <a:r>
              <a:rPr sz="3000" b="1"/>
              <a:t>CONCLUSION</a:t>
            </a:r>
          </a:p>
        </p:txBody>
      </p:sp>
      <p:sp>
        <p:nvSpPr>
          <p:cNvPr id="13" name="Text 10"/>
          <p:cNvSpPr/>
          <p:nvPr/>
        </p:nvSpPr>
        <p:spPr>
          <a:xfrm>
            <a:off x="868680" y="2057400"/>
            <a:ext cx="10378440" cy="1234440"/>
          </a:xfrm>
          <a:prstGeom prst="rect">
            <a:avLst/>
          </a:prstGeom>
          <a:solidFill>
            <a:srgbClr val="EEF4DD"/>
          </a:solidFill>
          <a:ln w="12700">
            <a:solidFill>
              <a:srgbClr val="173242"/>
            </a:solidFill>
          </a:ln>
        </p:spPr>
        <p:txBody>
          <a:bodyPr wrap="square" lIns="762" tIns="762" rIns="762" bIns="762" rtlCol="0" anchor="ctr">
            <a:normAutofit/>
          </a:bodyPr>
          <a:lstStyle/>
          <a:p>
            <a:r>
              <a:rPr sz="1800"/>
              <a:t>The project combines step tracking, challenges, social competition and rewards in one proposed fitness experience. Java, Spring Boot, MySQL and REST APIs define the backend direction; Android (Kotlin) is the client.</a:t>
            </a:r>
          </a:p>
        </p:txBody>
      </p:sp>
      <p:sp>
        <p:nvSpPr>
          <p:cNvPr id="14" name="Text 11"/>
          <p:cNvSpPr/>
          <p:nvPr/>
        </p:nvSpPr>
        <p:spPr>
          <a:xfrm>
            <a:off x="868680" y="3611880"/>
            <a:ext cx="10378440" cy="1115568"/>
          </a:xfrm>
          <a:prstGeom prst="rect">
            <a:avLst/>
          </a:prstGeom>
          <a:solidFill>
            <a:srgbClr val="FAFCF0"/>
          </a:solidFill>
          <a:ln w="12700">
            <a:solidFill>
              <a:srgbClr val="176563"/>
            </a:solidFill>
          </a:ln>
        </p:spPr>
        <p:txBody>
          <a:bodyPr wrap="square" lIns="762" tIns="762" rIns="762" bIns="762" rtlCol="0" anchor="ctr">
            <a:normAutofit/>
          </a:bodyPr>
          <a:lstStyle/>
          <a:p>
            <a:r>
              <a:rPr sz="1800"/>
              <a:t>The submitted files establish the design and team responsibilities, but contain no running build or test report. Feature completion remains unverified. Future scope includes wearable support, personalized goals and team challenges.</a:t>
            </a:r>
          </a:p>
        </p:txBody>
      </p:sp>
      <p:sp>
        <p:nvSpPr>
          <p:cNvPr id="15" name="Text 12"/>
          <p:cNvSpPr/>
          <p:nvPr/>
        </p:nvSpPr>
        <p:spPr>
          <a:xfrm>
            <a:off x="2011680" y="5029200"/>
            <a:ext cx="1463040" cy="658368"/>
          </a:xfrm>
          <a:prstGeom prst="rect">
            <a:avLst/>
          </a:prstGeom>
          <a:solidFill>
            <a:srgbClr val="FAFCF0"/>
          </a:solidFill>
          <a:ln w="15240">
            <a:solidFill>
              <a:srgbClr val="176563"/>
            </a:solidFill>
          </a:ln>
        </p:spPr>
        <p:txBody>
          <a:bodyPr wrap="square" lIns="762" tIns="762" rIns="762" bIns="762" rtlCol="0" anchor="ctr">
            <a:normAutofit/>
          </a:bodyPr>
          <a:lstStyle/>
          <a:p>
            <a:r>
              <a:rPr sz="1600" b="1"/>
              <a:t>STEP</a:t>
            </a:r>
          </a:p>
          <a:p>
            <a:r>
              <a:rPr sz="1600" b="1"/>
              <a:t>GOALS</a:t>
            </a:r>
          </a:p>
        </p:txBody>
      </p:sp>
      <p:sp>
        <p:nvSpPr>
          <p:cNvPr id="16" name="Text 13"/>
          <p:cNvSpPr/>
          <p:nvPr/>
        </p:nvSpPr>
        <p:spPr>
          <a:xfrm>
            <a:off x="3977640" y="5029200"/>
            <a:ext cx="1463040" cy="658368"/>
          </a:xfrm>
          <a:prstGeom prst="rect">
            <a:avLst/>
          </a:prstGeom>
          <a:solidFill>
            <a:srgbClr val="FAFCF0"/>
          </a:solidFill>
          <a:ln w="15240">
            <a:solidFill>
              <a:srgbClr val="9F303A"/>
            </a:solidFill>
          </a:ln>
        </p:spPr>
        <p:txBody>
          <a:bodyPr wrap="square" lIns="762" tIns="762" rIns="762" bIns="762" rtlCol="0" anchor="ctr">
            <a:normAutofit/>
          </a:bodyPr>
          <a:lstStyle/>
          <a:p>
            <a:r>
              <a:rPr sz="1600" b="1"/>
              <a:t>FRIENDS</a:t>
            </a:r>
          </a:p>
          <a:p>
            <a:r>
              <a:rPr sz="1600" b="1"/>
              <a:t>RANKINGS</a:t>
            </a:r>
          </a:p>
        </p:txBody>
      </p:sp>
      <p:sp>
        <p:nvSpPr>
          <p:cNvPr id="17" name="Text 14"/>
          <p:cNvSpPr/>
          <p:nvPr/>
        </p:nvSpPr>
        <p:spPr>
          <a:xfrm>
            <a:off x="5943600" y="5029200"/>
            <a:ext cx="1463040" cy="658368"/>
          </a:xfrm>
          <a:prstGeom prst="rect">
            <a:avLst/>
          </a:prstGeom>
          <a:solidFill>
            <a:srgbClr val="FAFCF0"/>
          </a:solidFill>
          <a:ln w="15240">
            <a:solidFill>
              <a:srgbClr val="176563"/>
            </a:solidFill>
          </a:ln>
        </p:spPr>
        <p:txBody>
          <a:bodyPr wrap="square" lIns="762" tIns="762" rIns="762" bIns="762" rtlCol="0" anchor="ctr">
            <a:normAutofit/>
          </a:bodyPr>
          <a:lstStyle/>
          <a:p>
            <a:r>
              <a:rPr sz="1600" b="1"/>
              <a:t>POINTS</a:t>
            </a:r>
          </a:p>
          <a:p>
            <a:r>
              <a:rPr sz="1600" b="1"/>
              <a:t>REWARDS</a:t>
            </a:r>
          </a:p>
        </p:txBody>
      </p:sp>
      <p:sp>
        <p:nvSpPr>
          <p:cNvPr id="18" name="Text 15"/>
          <p:cNvSpPr/>
          <p:nvPr/>
        </p:nvSpPr>
        <p:spPr>
          <a:xfrm>
            <a:off x="8275320" y="5084064"/>
            <a:ext cx="2514600" cy="502920"/>
          </a:xfrm>
          <a:prstGeom prst="rect">
            <a:avLst/>
          </a:prstGeom>
          <a:solidFill>
            <a:srgbClr val="E8F0D6"/>
          </a:solidFill>
          <a:ln w="12700">
            <a:solidFill>
              <a:srgbClr val="9F303A"/>
            </a:solidFill>
          </a:ln>
        </p:spPr>
        <p:txBody>
          <a:bodyPr wrap="square" lIns="762" tIns="762" rIns="762" bIns="762" rtlCol="0" anchor="ctr">
            <a:normAutofit/>
          </a:bodyPr>
          <a:lstStyle/>
          <a:p>
            <a:r>
              <a:rPr sz="2400" b="1"/>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La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La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KL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OSSP Team 08 Project PPT</dc:title>
  <dc:subject>Linux Process Creation, Execution and Termination System</dc:subject>
  <dc:creator>Team 08 OSSP</dc:creator>
  <cp:lastModifiedBy>Team 08 OSSP</cp:lastModifiedBy>
  <cp:revision>1</cp:revision>
  <dcterms:created xsi:type="dcterms:W3CDTF">2026-09-01T02:52:41Z</dcterms:created>
  <dcterms:modified xsi:type="dcterms:W3CDTF">2026-09-01T02:52:41Z</dcterms:modified>
</cp:coreProperties>
</file>